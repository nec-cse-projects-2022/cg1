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Calibri (MS) Bold" panose="020B0604020202020204" charset="0"/>
      <p:regular r:id="rId10"/>
    </p:embeddedFont>
    <p:embeddedFont>
      <p:font typeface="Aptos" panose="020B0604020202020204" charset="0"/>
      <p:regular r:id="rId11"/>
    </p:embeddedFont>
    <p:embeddedFont>
      <p:font typeface="Arimo Italics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990033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427077"/>
            <a:ext cx="18288000" cy="3453294"/>
          </a:xfrm>
          <a:custGeom>
            <a:avLst/>
            <a:gdLst/>
            <a:ahLst/>
            <a:cxnLst/>
            <a:rect l="l" t="t" r="r" b="b"/>
            <a:pathLst>
              <a:path w="18288000" h="3453294">
                <a:moveTo>
                  <a:pt x="0" y="0"/>
                </a:moveTo>
                <a:lnTo>
                  <a:pt x="18288000" y="0"/>
                </a:lnTo>
                <a:lnTo>
                  <a:pt x="18288000" y="3453293"/>
                </a:lnTo>
                <a:lnTo>
                  <a:pt x="0" y="345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1374" y="3450692"/>
            <a:ext cx="17645252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1ˢᵗ IEEE Uttar Pradesh Section Women in Engineering</a:t>
            </a:r>
          </a:p>
          <a:p>
            <a:pPr algn="ctr">
              <a:lnSpc>
                <a:spcPts val="5040"/>
              </a:lnSpc>
            </a:pPr>
            <a:r>
              <a:rPr lang="en-US" sz="4200" i="1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International Conference on Electrical Electronics and Computer Engineering</a:t>
            </a:r>
          </a:p>
          <a:p>
            <a:pPr algn="l">
              <a:lnSpc>
                <a:spcPts val="5040"/>
              </a:lnSpc>
            </a:pPr>
            <a:endParaRPr lang="en-US" sz="4200" i="1">
              <a:solidFill>
                <a:srgbClr val="FFFFFF"/>
              </a:solidFill>
              <a:latin typeface="Arimo Italics"/>
              <a:ea typeface="Arimo Italics"/>
              <a:cs typeface="Arimo Italics"/>
              <a:sym typeface="Arimo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2926" y="8782050"/>
            <a:ext cx="694881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Presenter Name </a:t>
            </a:r>
            <a:r>
              <a:rPr lang="en-US" sz="3000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3000" dirty="0" err="1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Pulagorla</a:t>
            </a:r>
            <a:r>
              <a:rPr lang="en-US" sz="3000" dirty="0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00" dirty="0" err="1" smtClean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Mounica</a:t>
            </a:r>
            <a:endParaRPr lang="en-US" sz="3000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600"/>
              </a:lnSpc>
            </a:pPr>
            <a:r>
              <a:rPr lang="en-US" sz="3000" i="1" dirty="0">
                <a:solidFill>
                  <a:srgbClr val="FFFFFF"/>
                </a:solidFill>
                <a:latin typeface="Arimo Italics"/>
                <a:ea typeface="Arimo Italics"/>
                <a:cs typeface="Arimo Italics"/>
                <a:sym typeface="Arimo Italics"/>
              </a:rPr>
              <a:t>Affiliation : JNTUK</a:t>
            </a:r>
          </a:p>
        </p:txBody>
      </p:sp>
      <p:sp>
        <p:nvSpPr>
          <p:cNvPr id="5" name="Freeform 5"/>
          <p:cNvSpPr/>
          <p:nvPr/>
        </p:nvSpPr>
        <p:spPr>
          <a:xfrm>
            <a:off x="832528" y="443700"/>
            <a:ext cx="3682473" cy="1683785"/>
          </a:xfrm>
          <a:custGeom>
            <a:avLst/>
            <a:gdLst/>
            <a:ahLst/>
            <a:cxnLst/>
            <a:rect l="l" t="t" r="r" b="b"/>
            <a:pathLst>
              <a:path w="3682473" h="1683785">
                <a:moveTo>
                  <a:pt x="0" y="0"/>
                </a:moveTo>
                <a:lnTo>
                  <a:pt x="3682474" y="0"/>
                </a:lnTo>
                <a:lnTo>
                  <a:pt x="3682474" y="1683785"/>
                </a:lnTo>
                <a:lnTo>
                  <a:pt x="0" y="168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32527" y="530438"/>
            <a:ext cx="3682474" cy="1153320"/>
            <a:chOff x="0" y="0"/>
            <a:chExt cx="4909966" cy="15377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09947" cy="1537716"/>
            </a:xfrm>
            <a:custGeom>
              <a:avLst/>
              <a:gdLst/>
              <a:ahLst/>
              <a:cxnLst/>
              <a:rect l="l" t="t" r="r" b="b"/>
              <a:pathLst>
                <a:path w="4909947" h="1537716">
                  <a:moveTo>
                    <a:pt x="0" y="0"/>
                  </a:moveTo>
                  <a:lnTo>
                    <a:pt x="4909947" y="0"/>
                  </a:lnTo>
                  <a:lnTo>
                    <a:pt x="4909947" y="1537716"/>
                  </a:lnTo>
                  <a:lnTo>
                    <a:pt x="0" y="1537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5575" r="-2" b="-7355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411838" y="6064356"/>
            <a:ext cx="3541914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3"/>
              </a:lnSpc>
            </a:pPr>
            <a:r>
              <a:rPr lang="en-US" sz="4569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Paper ID: </a:t>
            </a:r>
            <a:r>
              <a:rPr lang="en-US" sz="4569" b="1" dirty="0" smtClean="0">
                <a:solidFill>
                  <a:srgbClr val="FFFFFF"/>
                </a:solidFill>
                <a:latin typeface="Calibri (MS) Bold"/>
                <a:ea typeface="Calibri (MS)"/>
                <a:cs typeface="Calibri (MS) Bold"/>
                <a:sym typeface="Calibri (MS) Bold"/>
              </a:rPr>
              <a:t>411</a:t>
            </a:r>
            <a:endParaRPr lang="en-US" sz="4569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219254" y="409827"/>
            <a:ext cx="3734498" cy="1875623"/>
          </a:xfrm>
          <a:custGeom>
            <a:avLst/>
            <a:gdLst/>
            <a:ahLst/>
            <a:cxnLst/>
            <a:rect l="l" t="t" r="r" b="b"/>
            <a:pathLst>
              <a:path w="3734498" h="1875623">
                <a:moveTo>
                  <a:pt x="0" y="0"/>
                </a:moveTo>
                <a:lnTo>
                  <a:pt x="3734498" y="0"/>
                </a:lnTo>
                <a:lnTo>
                  <a:pt x="3734498" y="1875622"/>
                </a:lnTo>
                <a:lnTo>
                  <a:pt x="0" y="1875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208726" y="559556"/>
            <a:ext cx="1710844" cy="1327227"/>
            <a:chOff x="0" y="0"/>
            <a:chExt cx="2281126" cy="17696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1174" cy="1769618"/>
            </a:xfrm>
            <a:custGeom>
              <a:avLst/>
              <a:gdLst/>
              <a:ahLst/>
              <a:cxnLst/>
              <a:rect l="l" t="t" r="r" b="b"/>
              <a:pathLst>
                <a:path w="2281174" h="1769618">
                  <a:moveTo>
                    <a:pt x="0" y="0"/>
                  </a:moveTo>
                  <a:lnTo>
                    <a:pt x="2281174" y="0"/>
                  </a:lnTo>
                  <a:lnTo>
                    <a:pt x="2281174" y="1769618"/>
                  </a:lnTo>
                  <a:lnTo>
                    <a:pt x="0" y="1769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-1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3887046" y="398134"/>
            <a:ext cx="3682473" cy="1683785"/>
          </a:xfrm>
          <a:custGeom>
            <a:avLst/>
            <a:gdLst/>
            <a:ahLst/>
            <a:cxnLst/>
            <a:rect l="l" t="t" r="r" b="b"/>
            <a:pathLst>
              <a:path w="3682473" h="1683785">
                <a:moveTo>
                  <a:pt x="0" y="0"/>
                </a:moveTo>
                <a:lnTo>
                  <a:pt x="3682473" y="0"/>
                </a:lnTo>
                <a:lnTo>
                  <a:pt x="3682473" y="1683786"/>
                </a:lnTo>
                <a:lnTo>
                  <a:pt x="0" y="1683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197518" y="637234"/>
            <a:ext cx="2874524" cy="994574"/>
            <a:chOff x="0" y="0"/>
            <a:chExt cx="3832698" cy="13260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32733" cy="1326134"/>
            </a:xfrm>
            <a:custGeom>
              <a:avLst/>
              <a:gdLst/>
              <a:ahLst/>
              <a:cxnLst/>
              <a:rect l="l" t="t" r="r" b="b"/>
              <a:pathLst>
                <a:path w="3832733" h="1326134">
                  <a:moveTo>
                    <a:pt x="0" y="0"/>
                  </a:moveTo>
                  <a:lnTo>
                    <a:pt x="3832733" y="0"/>
                  </a:lnTo>
                  <a:lnTo>
                    <a:pt x="3832733" y="1326134"/>
                  </a:lnTo>
                  <a:lnTo>
                    <a:pt x="0" y="1326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2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2885894" y="6962716"/>
            <a:ext cx="14411506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23"/>
              </a:lnSpc>
            </a:pPr>
            <a:r>
              <a:rPr lang="en-US" sz="387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Title: </a:t>
            </a:r>
            <a:r>
              <a:rPr lang="en-US" sz="3600" b="1" dirty="0" err="1">
                <a:solidFill>
                  <a:schemeClr val="bg1"/>
                </a:solidFill>
              </a:rPr>
              <a:t>ExplaiLiver</a:t>
            </a:r>
            <a:r>
              <a:rPr lang="en-US" sz="3600" b="1" dirty="0">
                <a:solidFill>
                  <a:schemeClr val="bg1"/>
                </a:solidFill>
              </a:rPr>
              <a:t>+: A Multi-Stage Stacking Framework with SHAP-Based Interpretability for Clinical Liver Disease Prediction</a:t>
            </a:r>
            <a:r>
              <a:rPr lang="en-US" sz="3873" b="1" dirty="0" smtClean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  <a:endParaRPr lang="en-US" sz="3873" b="1" dirty="0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5423"/>
              </a:lnSpc>
            </a:pPr>
            <a:r>
              <a:rPr lang="en-US" sz="3873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651875" y="2860870"/>
            <a:ext cx="8790885" cy="574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Contents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1. Introduction and Brief Review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2. Methodology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3. Experimental Setup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4. Result and Discussion</a:t>
            </a:r>
          </a:p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5. Conclusion </a:t>
            </a:r>
          </a:p>
          <a:p>
            <a:pPr algn="l">
              <a:lnSpc>
                <a:spcPts val="5040"/>
              </a:lnSpc>
            </a:pPr>
            <a:endParaRPr lang="en-US" sz="4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5040"/>
              </a:lnSpc>
            </a:pPr>
            <a:endParaRPr lang="en-US" sz="4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5040"/>
              </a:lnSpc>
            </a:pPr>
            <a:endParaRPr lang="en-US" sz="4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953000" y="2100310"/>
            <a:ext cx="9601200" cy="1897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 dirty="0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 &amp; BRIEF REVIEW</a:t>
            </a:r>
          </a:p>
          <a:p>
            <a:pPr algn="ctr">
              <a:lnSpc>
                <a:spcPts val="7350"/>
              </a:lnSpc>
            </a:pPr>
            <a:endParaRPr lang="en-US" sz="5250" b="1" dirty="0">
              <a:solidFill>
                <a:srgbClr val="01238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55277" y="3398774"/>
            <a:ext cx="15672951" cy="5219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Liver disease is a major global health concern, causing around 2 million deaths annually.</a:t>
            </a:r>
            <a:endParaRPr lang="en-US" sz="2637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Traditional diagnostic methods such as liver function tests and biopsies are invasive, costly, and time-consuming</a:t>
            </a:r>
            <a:r>
              <a:rPr lang="en-US" sz="2800" b="1" dirty="0" smtClean="0"/>
              <a:t>.</a:t>
            </a: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This study aims to develop an explainable, machine learning–based model (</a:t>
            </a:r>
            <a:r>
              <a:rPr lang="en-US" sz="2800" b="1" dirty="0" err="1"/>
              <a:t>ExplaiLiver</a:t>
            </a:r>
            <a:r>
              <a:rPr lang="en-US" sz="2800" b="1" dirty="0"/>
              <a:t>+) for early and reliable liver disease prediction</a:t>
            </a:r>
            <a:r>
              <a:rPr lang="en-US" sz="2800" b="1" dirty="0" smtClean="0"/>
              <a:t>.</a:t>
            </a:r>
            <a:endParaRPr lang="en-US" sz="2637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The Indian Liver Patient Dataset (ILPD), containing 583 records and 10 clinical parameters, is used</a:t>
            </a:r>
            <a:r>
              <a:rPr lang="en-US" sz="2800" b="1" dirty="0" smtClean="0"/>
              <a:t>.</a:t>
            </a: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Preprocessing includes handling missing values, scaling, feature selection, and class balancing</a:t>
            </a:r>
            <a:r>
              <a:rPr lang="en-US" sz="2800" b="1" dirty="0" smtClean="0"/>
              <a:t>.</a:t>
            </a: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Four models are combined — </a:t>
            </a:r>
            <a:r>
              <a:rPr lang="en-US" sz="2800" b="1" dirty="0" err="1"/>
              <a:t>XGBoost</a:t>
            </a:r>
            <a:r>
              <a:rPr lang="en-US" sz="2800" b="1" dirty="0"/>
              <a:t>, </a:t>
            </a:r>
            <a:r>
              <a:rPr lang="en-US" sz="2800" b="1" dirty="0" err="1"/>
              <a:t>LightGBM</a:t>
            </a:r>
            <a:r>
              <a:rPr lang="en-US" sz="2800" b="1" dirty="0"/>
              <a:t>, </a:t>
            </a:r>
            <a:r>
              <a:rPr lang="en-US" sz="2800" b="1" dirty="0" err="1"/>
              <a:t>CatBoost</a:t>
            </a:r>
            <a:r>
              <a:rPr lang="en-US" sz="2800" b="1" dirty="0"/>
              <a:t>, and </a:t>
            </a:r>
            <a:r>
              <a:rPr lang="en-US" sz="2800" b="1" dirty="0" err="1"/>
              <a:t>ExtraTrees</a:t>
            </a:r>
            <a:r>
              <a:rPr lang="en-US" sz="2800" b="1" dirty="0"/>
              <a:t> — with Logistic Regression as meta-learner</a:t>
            </a:r>
            <a:r>
              <a:rPr lang="en-US" sz="2800" b="1" dirty="0" smtClean="0"/>
              <a:t>.</a:t>
            </a: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Achieved 94.05% accuracy and 98.39% AUC, better than single models</a:t>
            </a:r>
            <a:r>
              <a:rPr lang="en-US" sz="2800" b="1" dirty="0" smtClean="0"/>
              <a:t>.</a:t>
            </a:r>
          </a:p>
          <a:p>
            <a:pPr marL="569343" lvl="1" indent="-284671" algn="just">
              <a:lnSpc>
                <a:spcPts val="3691"/>
              </a:lnSpc>
              <a:buFont typeface="Arial"/>
              <a:buChar char="•"/>
            </a:pPr>
            <a:r>
              <a:rPr lang="en-US" sz="2800" b="1" dirty="0"/>
              <a:t>Provides reliable, interpretable, and data-driven support for clinical liver disease prediction.</a:t>
            </a:r>
            <a:endParaRPr lang="en-US" sz="2637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967559" y="2246763"/>
            <a:ext cx="6044889" cy="1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2"/>
              </a:lnSpc>
            </a:pPr>
            <a:r>
              <a:rPr lang="en-US" sz="5251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5278" y="3398774"/>
            <a:ext cx="15327028" cy="616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en-US" sz="264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 </a:t>
            </a: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Dataset: </a:t>
            </a:r>
            <a:r>
              <a:rPr lang="en-US" sz="2400" b="1" dirty="0"/>
              <a:t>Indian Liver Patient </a:t>
            </a:r>
            <a:r>
              <a:rPr lang="en-US" sz="2400" b="1" dirty="0" smtClean="0"/>
              <a:t>Dataset-583 </a:t>
            </a:r>
            <a:r>
              <a:rPr lang="en-US" sz="2400" b="1" dirty="0"/>
              <a:t>samples, 10 features, 2 output </a:t>
            </a:r>
            <a:r>
              <a:rPr lang="en-US" sz="2400" b="1" dirty="0" smtClean="0"/>
              <a:t>classes(Disease </a:t>
            </a:r>
            <a:r>
              <a:rPr lang="en-US" sz="2400" b="1" dirty="0"/>
              <a:t>/ No </a:t>
            </a:r>
            <a:r>
              <a:rPr lang="en-US" sz="2400" b="1" dirty="0" smtClean="0"/>
              <a:t>  Disease)</a:t>
            </a:r>
          </a:p>
          <a:p>
            <a:pPr algn="just">
              <a:lnSpc>
                <a:spcPts val="3696"/>
              </a:lnSpc>
            </a:pP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en-US" sz="280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 </a:t>
            </a: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Preprocessing Steps: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Missing value imputation using median of A/G ratio</a:t>
            </a:r>
            <a:r>
              <a:rPr lang="en-US" sz="2400" b="1" dirty="0" smtClean="0"/>
              <a:t>.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Label encoding for Gender (Male=1, Female=0</a:t>
            </a:r>
            <a:r>
              <a:rPr lang="en-US" sz="2400" b="1" dirty="0" smtClean="0"/>
              <a:t>).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Log transformation to reduce </a:t>
            </a:r>
            <a:r>
              <a:rPr lang="en-US" sz="2400" b="1" dirty="0" err="1"/>
              <a:t>skewness</a:t>
            </a:r>
            <a:r>
              <a:rPr lang="en-US" sz="2400" b="1" dirty="0"/>
              <a:t> in features like TB, DB, SGOT, </a:t>
            </a:r>
            <a:r>
              <a:rPr lang="en-US" sz="2400" b="1" dirty="0" smtClean="0"/>
              <a:t>SGPT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MinMax</a:t>
            </a:r>
            <a:r>
              <a:rPr lang="en-US" sz="2400" b="1" dirty="0"/>
              <a:t> normalization to scale features between [0,1</a:t>
            </a:r>
            <a:r>
              <a:rPr lang="en-US" sz="2400" b="1" dirty="0" smtClean="0"/>
              <a:t>].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SMOTE-ENN applied to handle imbalance and remove noise</a:t>
            </a:r>
            <a:r>
              <a:rPr lang="en-US" sz="2400" b="1" dirty="0" smtClean="0"/>
              <a:t>.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ExtraTreesClassifier</a:t>
            </a:r>
            <a:r>
              <a:rPr lang="en-US" sz="2400" b="1" dirty="0"/>
              <a:t> used for feature importance-based selection</a:t>
            </a:r>
            <a:r>
              <a:rPr lang="en-US" sz="2400" b="1" dirty="0" smtClean="0"/>
              <a:t>.</a:t>
            </a:r>
          </a:p>
          <a:p>
            <a:pPr algn="just">
              <a:lnSpc>
                <a:spcPts val="3696"/>
              </a:lnSpc>
            </a:pPr>
            <a:r>
              <a:rPr lang="en-US" sz="240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2) </a:t>
            </a: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Architecture (</a:t>
            </a:r>
            <a:r>
              <a:rPr lang="en-US" sz="2800" b="1" dirty="0" err="1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ExplaiLiver</a:t>
            </a: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+):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Base learners: </a:t>
            </a:r>
            <a:r>
              <a:rPr lang="en-US" sz="2400" b="1" dirty="0" err="1"/>
              <a:t>XGBoost</a:t>
            </a:r>
            <a:r>
              <a:rPr lang="en-US" sz="2400" b="1" dirty="0"/>
              <a:t>, </a:t>
            </a:r>
            <a:r>
              <a:rPr lang="en-US" sz="2400" b="1" dirty="0" err="1"/>
              <a:t>LightGBM</a:t>
            </a:r>
            <a:r>
              <a:rPr lang="en-US" sz="2400" b="1" dirty="0"/>
              <a:t>, </a:t>
            </a:r>
            <a:r>
              <a:rPr lang="en-US" sz="2400" b="1" dirty="0" err="1"/>
              <a:t>CatBoost</a:t>
            </a:r>
            <a:r>
              <a:rPr lang="en-US" sz="2400" b="1" dirty="0"/>
              <a:t>, </a:t>
            </a:r>
            <a:r>
              <a:rPr lang="en-US" sz="2400" b="1" dirty="0" err="1"/>
              <a:t>ExtraTrees</a:t>
            </a:r>
            <a:r>
              <a:rPr lang="en-US" sz="2400" b="1" dirty="0" smtClean="0"/>
              <a:t>.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Meta learner: Logistic Regression (for final prediction</a:t>
            </a:r>
            <a:r>
              <a:rPr lang="en-US" sz="2400" b="1" dirty="0" smtClean="0"/>
              <a:t>).</a:t>
            </a:r>
          </a:p>
          <a:p>
            <a:pPr marL="457200" indent="-457200" algn="just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Trained </a:t>
            </a:r>
            <a:r>
              <a:rPr lang="en-US" sz="2400" b="1"/>
              <a:t>using </a:t>
            </a:r>
            <a:r>
              <a:rPr lang="en-US" sz="2400" b="1" smtClean="0"/>
              <a:t>15-fold </a:t>
            </a:r>
            <a:r>
              <a:rPr lang="en-US" sz="2400" b="1" dirty="0"/>
              <a:t>stratified cross-validation</a:t>
            </a:r>
            <a:r>
              <a:rPr lang="en-US" sz="2400" b="1" dirty="0" smtClean="0"/>
              <a:t>.</a:t>
            </a:r>
          </a:p>
          <a:p>
            <a:pPr algn="just">
              <a:lnSpc>
                <a:spcPts val="3696"/>
              </a:lnSpc>
            </a:pP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3) </a:t>
            </a:r>
            <a:r>
              <a:rPr lang="en-US" sz="2800" b="1" dirty="0" err="1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Explainability</a:t>
            </a: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 </a:t>
            </a:r>
            <a:r>
              <a:rPr lang="en-US" sz="2400" b="1" dirty="0" smtClean="0"/>
              <a:t>Integrated </a:t>
            </a:r>
            <a:r>
              <a:rPr lang="en-US" sz="2400" b="1" dirty="0"/>
              <a:t>SHAP values for feature-level interpretation of model predictions.</a:t>
            </a:r>
            <a:endParaRPr lang="en-US" sz="24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538761" y="2246763"/>
            <a:ext cx="6960061" cy="1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2"/>
              </a:lnSpc>
            </a:pPr>
            <a:r>
              <a:rPr lang="en-US" sz="5251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EXPERIMENTAL SETUP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5278" y="3398774"/>
            <a:ext cx="15672990" cy="569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80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Environment &amp; Tools:</a:t>
            </a:r>
            <a:r>
              <a:rPr lang="en-US" sz="2800" b="1" dirty="0" smtClean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 smtClean="0"/>
              <a:t>3.10 </a:t>
            </a:r>
            <a:r>
              <a:rPr lang="en-US" sz="2400" b="1" dirty="0"/>
              <a:t>(Google </a:t>
            </a:r>
            <a:r>
              <a:rPr lang="en-US" sz="2400" b="1" dirty="0" err="1"/>
              <a:t>Colab</a:t>
            </a:r>
            <a:r>
              <a:rPr lang="en-US" sz="2400" b="1" dirty="0"/>
              <a:t>) with </a:t>
            </a:r>
            <a:r>
              <a:rPr lang="en-US" sz="2400" b="1" dirty="0" err="1"/>
              <a:t>Scikit</a:t>
            </a:r>
            <a:r>
              <a:rPr lang="en-US" sz="2400" b="1" dirty="0"/>
              <a:t>-learn, </a:t>
            </a:r>
            <a:r>
              <a:rPr lang="en-US" sz="2400" b="1" dirty="0" err="1"/>
              <a:t>XGBoost</a:t>
            </a:r>
            <a:r>
              <a:rPr lang="en-US" sz="2400" b="1" dirty="0"/>
              <a:t>, </a:t>
            </a:r>
            <a:r>
              <a:rPr lang="en-US" sz="2400" b="1" dirty="0" err="1"/>
              <a:t>LightGBM</a:t>
            </a:r>
            <a:r>
              <a:rPr lang="en-US" sz="2400" b="1" dirty="0"/>
              <a:t>, </a:t>
            </a:r>
            <a:r>
              <a:rPr lang="en-US" sz="2400" b="1" dirty="0" err="1"/>
              <a:t>CatBoost</a:t>
            </a:r>
            <a:r>
              <a:rPr lang="en-US" sz="2400" b="1" dirty="0"/>
              <a:t>, Pandas, </a:t>
            </a:r>
            <a:r>
              <a:rPr lang="en-US" sz="2400" b="1" dirty="0" err="1"/>
              <a:t>NumPy</a:t>
            </a:r>
            <a:r>
              <a:rPr lang="en-US" sz="2400" b="1" dirty="0"/>
              <a:t>, and </a:t>
            </a:r>
            <a:r>
              <a:rPr lang="en-US" sz="2400" b="1" dirty="0" err="1"/>
              <a:t>Matplotlib</a:t>
            </a:r>
            <a:r>
              <a:rPr lang="en-US" sz="2400" b="1" dirty="0"/>
              <a:t> for implementation and visualization</a:t>
            </a:r>
            <a:r>
              <a:rPr lang="en-US" sz="2400" b="1" dirty="0" smtClean="0"/>
              <a:t>.</a:t>
            </a:r>
          </a:p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</a:t>
            </a:r>
            <a:r>
              <a:rPr lang="en-US" sz="264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Split &amp; Validation:</a:t>
            </a:r>
            <a:r>
              <a:rPr lang="en-US" sz="264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/>
              <a:t>80:20 train-test split with </a:t>
            </a:r>
            <a:r>
              <a:rPr lang="en-US" sz="2400" b="1" dirty="0" smtClean="0"/>
              <a:t>15-fold </a:t>
            </a:r>
            <a:r>
              <a:rPr lang="en-US" sz="2400" b="1" dirty="0"/>
              <a:t>Stratified Cross-Validation</a:t>
            </a:r>
            <a:r>
              <a:rPr lang="en-US" sz="2400" b="1" dirty="0" smtClean="0"/>
              <a:t>.</a:t>
            </a:r>
          </a:p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Preprocessing</a:t>
            </a:r>
            <a:r>
              <a:rPr lang="en-US" sz="264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en-US" sz="264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/>
              <a:t>Median imputation for A/G Ratio, label encoding for Gender, Min–Max scaling, and SMOTE-ENN for </a:t>
            </a:r>
            <a:r>
              <a:rPr lang="en-US" sz="2400" b="1" dirty="0" smtClean="0"/>
              <a:t>balancing.</a:t>
            </a:r>
          </a:p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</a:t>
            </a:r>
            <a:r>
              <a:rPr lang="en-US" sz="264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Pipeline:</a:t>
            </a:r>
            <a:r>
              <a:rPr lang="en-US" sz="264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 err="1"/>
              <a:t>ExtraTrees</a:t>
            </a:r>
            <a:r>
              <a:rPr lang="en-US" sz="2400" b="1" dirty="0"/>
              <a:t>-based feature selection, log transform for skewed features, and correlation </a:t>
            </a:r>
            <a:r>
              <a:rPr lang="en-US" sz="2400" b="1" dirty="0" err="1"/>
              <a:t>heatmap</a:t>
            </a:r>
            <a:r>
              <a:rPr lang="en-US" sz="2400" b="1" dirty="0"/>
              <a:t> analysis</a:t>
            </a:r>
            <a:r>
              <a:rPr lang="en-US" sz="2400" b="1" dirty="0" smtClean="0"/>
              <a:t>.</a:t>
            </a:r>
          </a:p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Tuning &amp; Training:</a:t>
            </a:r>
            <a:r>
              <a:rPr lang="en-US" sz="2640" b="1" dirty="0" smtClean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 err="1"/>
              <a:t>ExplaiLiver</a:t>
            </a:r>
            <a:r>
              <a:rPr lang="en-US" sz="2400" b="1" dirty="0"/>
              <a:t>+ stacking of </a:t>
            </a:r>
            <a:r>
              <a:rPr lang="en-US" sz="2400" b="1" dirty="0" err="1"/>
              <a:t>XGBoost</a:t>
            </a:r>
            <a:r>
              <a:rPr lang="en-US" sz="2400" b="1" dirty="0"/>
              <a:t>, </a:t>
            </a:r>
            <a:r>
              <a:rPr lang="en-US" sz="2400" b="1" dirty="0" err="1"/>
              <a:t>LightGBM</a:t>
            </a:r>
            <a:r>
              <a:rPr lang="en-US" sz="2400" b="1" dirty="0"/>
              <a:t>, </a:t>
            </a:r>
            <a:r>
              <a:rPr lang="en-US" sz="2400" b="1" dirty="0" err="1"/>
              <a:t>ExtraTrees</a:t>
            </a:r>
            <a:r>
              <a:rPr lang="en-US" sz="2400" b="1" dirty="0"/>
              <a:t>, and </a:t>
            </a:r>
            <a:r>
              <a:rPr lang="en-US" sz="2400" b="1" dirty="0" err="1"/>
              <a:t>CatBoost</a:t>
            </a:r>
            <a:r>
              <a:rPr lang="en-US" sz="2400" b="1" dirty="0"/>
              <a:t> with Logistic Regression meta-</a:t>
            </a:r>
            <a:r>
              <a:rPr lang="en-US" sz="2400" b="1" dirty="0" err="1"/>
              <a:t>learner.</a:t>
            </a:r>
            <a:r>
              <a:rPr lang="en-US" sz="2400" b="1" dirty="0" err="1" smtClean="0"/>
              <a:t>Hyperparameters</a:t>
            </a:r>
            <a:r>
              <a:rPr lang="en-US" sz="2400" b="1" dirty="0" smtClean="0"/>
              <a:t> </a:t>
            </a:r>
            <a:r>
              <a:rPr lang="en-US" sz="2400" b="1" dirty="0"/>
              <a:t>optimized through Grid Search for each model within the stacking pipeline</a:t>
            </a:r>
            <a:r>
              <a:rPr lang="en-US" sz="2400" b="1" dirty="0" smtClean="0"/>
              <a:t>.</a:t>
            </a:r>
          </a:p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Evaluation </a:t>
            </a:r>
            <a:r>
              <a:rPr lang="en-US" sz="264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Validation:</a:t>
            </a:r>
            <a:r>
              <a:rPr lang="en-US" sz="264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/>
              <a:t>Accuracy = 94.05%, AUC = 0.9839 using Precision, Recall, F1, and ROC metrics</a:t>
            </a:r>
            <a:r>
              <a:rPr lang="en-US" sz="2400" b="1" dirty="0" smtClean="0"/>
              <a:t>.</a:t>
            </a:r>
          </a:p>
          <a:p>
            <a:pPr marL="569976" lvl="1" indent="-284988" algn="just">
              <a:lnSpc>
                <a:spcPts val="3696"/>
              </a:lnSpc>
              <a:buFont typeface="Arial"/>
              <a:buChar char="•"/>
            </a:pPr>
            <a:r>
              <a:rPr lang="en-US" sz="2640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</a:t>
            </a:r>
            <a:r>
              <a:rPr lang="en-US" sz="2640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&amp; Reproducibility:</a:t>
            </a:r>
            <a:r>
              <a:rPr lang="en-US" sz="264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 dirty="0"/>
              <a:t>Executed on Google </a:t>
            </a:r>
            <a:r>
              <a:rPr lang="en-US" sz="2400" b="1" dirty="0" err="1"/>
              <a:t>Colab</a:t>
            </a:r>
            <a:r>
              <a:rPr lang="en-US" sz="2400" b="1" dirty="0"/>
              <a:t> (CPU/GPU runtime) with fixed random seeds for reproducibility.</a:t>
            </a:r>
            <a:endParaRPr lang="en-US" sz="24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281023" y="2017531"/>
            <a:ext cx="7957846" cy="1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2"/>
              </a:lnSpc>
            </a:pPr>
            <a:r>
              <a:rPr lang="en-US" sz="5251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 &amp; DISCUSSIONS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7371" y="2950936"/>
            <a:ext cx="16682029" cy="6559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7212" lvl="1" algn="just">
              <a:lnSpc>
                <a:spcPts val="2687"/>
              </a:lnSpc>
            </a:pPr>
            <a:r>
              <a:rPr lang="en-US" sz="1919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1.   Model </a:t>
            </a:r>
            <a:r>
              <a:rPr lang="en-US" sz="1919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Comparison:</a:t>
            </a:r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Six classifiers were evaluated — Random Forest, </a:t>
            </a:r>
            <a:r>
              <a:rPr lang="en-US" sz="2000" b="1" dirty="0" err="1"/>
              <a:t>ExtraTrees</a:t>
            </a:r>
            <a:r>
              <a:rPr lang="en-US" sz="2000" b="1" dirty="0"/>
              <a:t>, </a:t>
            </a:r>
            <a:r>
              <a:rPr lang="en-US" sz="2000" b="1" dirty="0" err="1"/>
              <a:t>LightGBM</a:t>
            </a:r>
            <a:r>
              <a:rPr lang="en-US" sz="2000" b="1" dirty="0"/>
              <a:t>, </a:t>
            </a:r>
            <a:r>
              <a:rPr lang="en-US" sz="2000" b="1" dirty="0" err="1"/>
              <a:t>XGBoost</a:t>
            </a:r>
            <a:r>
              <a:rPr lang="en-US" sz="2000" b="1" dirty="0"/>
              <a:t>, </a:t>
            </a:r>
            <a:r>
              <a:rPr lang="en-US" sz="2000" b="1" dirty="0" err="1"/>
              <a:t>CatBoost</a:t>
            </a:r>
            <a:r>
              <a:rPr lang="en-US" sz="2000" b="1" dirty="0"/>
              <a:t>, and the proposed </a:t>
            </a:r>
            <a:r>
              <a:rPr lang="en-US" sz="2000" b="1" dirty="0" err="1"/>
              <a:t>ExplaiLiver</a:t>
            </a:r>
            <a:r>
              <a:rPr lang="en-US" sz="2000" b="1" dirty="0"/>
              <a:t>+ stacking ensemble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The </a:t>
            </a:r>
            <a:r>
              <a:rPr lang="en-US" sz="2000" b="1" dirty="0" err="1"/>
              <a:t>ExplaiLiver</a:t>
            </a:r>
            <a:r>
              <a:rPr lang="en-US" sz="2000" b="1" dirty="0"/>
              <a:t>+ model (Logistic Regression meta-learner over four base models) achieved the best overall performance. </a:t>
            </a:r>
            <a:endParaRPr lang="en-US" sz="2000" b="1" dirty="0" smtClean="0"/>
          </a:p>
          <a:p>
            <a:pPr marL="552563" lvl="2" algn="just">
              <a:lnSpc>
                <a:spcPts val="2687"/>
              </a:lnSpc>
            </a:pPr>
            <a:r>
              <a:rPr lang="en-US" sz="1919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 Performance Metrics:</a:t>
            </a:r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 smtClean="0"/>
              <a:t>Accuracy</a:t>
            </a:r>
            <a:r>
              <a:rPr lang="en-US" sz="2000" b="1" dirty="0"/>
              <a:t>: 94.05%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Precision: 94.33%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Recall: 93.84%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F1-Score: 94.02%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AUC-ROC: 0.9839</a:t>
            </a:r>
          </a:p>
          <a:p>
            <a:pPr marL="552563" lvl="2" algn="just">
              <a:lnSpc>
                <a:spcPts val="2687"/>
              </a:lnSpc>
            </a:pPr>
            <a:r>
              <a:rPr lang="en-US" sz="1919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 Key </a:t>
            </a:r>
            <a:r>
              <a:rPr lang="en-US" sz="1919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Insights:</a:t>
            </a:r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The ensemble approach significantly outperformed all single models.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Bilirubin, Albumin, and Enzyme levels (SGPT, SGOT, ALP) were identified as top predictors.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SMOTE-ENN effectively improved minority class recognition, reducing false negatives.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The model showed strong consistency across cross-validation folds, confirming reliability.</a:t>
            </a:r>
          </a:p>
          <a:p>
            <a:pPr marL="552563" lvl="2" algn="just">
              <a:lnSpc>
                <a:spcPts val="2687"/>
              </a:lnSpc>
            </a:pPr>
            <a:r>
              <a:rPr lang="en-US" sz="1919" b="1" dirty="0" smtClean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 Interpretation</a:t>
            </a:r>
            <a:r>
              <a:rPr lang="en-US" sz="1919" b="1" dirty="0">
                <a:solidFill>
                  <a:srgbClr val="8000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The </a:t>
            </a:r>
            <a:r>
              <a:rPr lang="en-US" sz="2000" b="1" dirty="0" err="1"/>
              <a:t>ExplaiLiver</a:t>
            </a:r>
            <a:r>
              <a:rPr lang="en-US" sz="2000" b="1" dirty="0"/>
              <a:t>+ stacking framework successfully combined multiple gradient-based and tree-based models to enhance robustness and interpretability. </a:t>
            </a:r>
            <a:endParaRPr lang="en-US" sz="2000" b="1" dirty="0" smtClean="0"/>
          </a:p>
          <a:p>
            <a:pPr marL="828845" lvl="2" indent="-276282" algn="just">
              <a:lnSpc>
                <a:spcPts val="2687"/>
              </a:lnSpc>
              <a:buFont typeface="Arial"/>
              <a:buChar char="⚬"/>
            </a:pPr>
            <a:r>
              <a:rPr lang="en-US" sz="2000" b="1" dirty="0"/>
              <a:t>Its high AUC and balanced metrics demonstrate reliable liver disease detection, offering a clinically explainable and deployable solution for healthcare diagnosis.</a:t>
            </a:r>
            <a:endParaRPr lang="en-US" sz="1919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6953" y="151155"/>
            <a:ext cx="17345986" cy="1618013"/>
          </a:xfrm>
          <a:custGeom>
            <a:avLst/>
            <a:gdLst/>
            <a:ahLst/>
            <a:cxnLst/>
            <a:rect l="l" t="t" r="r" b="b"/>
            <a:pathLst>
              <a:path w="17345986" h="1618013">
                <a:moveTo>
                  <a:pt x="0" y="0"/>
                </a:moveTo>
                <a:lnTo>
                  <a:pt x="17345987" y="0"/>
                </a:lnTo>
                <a:lnTo>
                  <a:pt x="17345987" y="1618013"/>
                </a:lnTo>
                <a:lnTo>
                  <a:pt x="0" y="16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209361" y="482297"/>
            <a:ext cx="1561287" cy="1211205"/>
            <a:chOff x="0" y="0"/>
            <a:chExt cx="2081716" cy="161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1657" cy="1614932"/>
            </a:xfrm>
            <a:custGeom>
              <a:avLst/>
              <a:gdLst/>
              <a:ahLst/>
              <a:cxnLst/>
              <a:rect l="l" t="t" r="r" b="b"/>
              <a:pathLst>
                <a:path w="2081657" h="1614932">
                  <a:moveTo>
                    <a:pt x="0" y="0"/>
                  </a:moveTo>
                  <a:lnTo>
                    <a:pt x="2081657" y="0"/>
                  </a:lnTo>
                  <a:lnTo>
                    <a:pt x="2081657" y="1614932"/>
                  </a:lnTo>
                  <a:lnTo>
                    <a:pt x="0" y="1614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44165" y="422665"/>
            <a:ext cx="4060044" cy="1330467"/>
            <a:chOff x="0" y="0"/>
            <a:chExt cx="5413392" cy="1773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375" cy="1773936"/>
            </a:xfrm>
            <a:custGeom>
              <a:avLst/>
              <a:gdLst/>
              <a:ahLst/>
              <a:cxnLst/>
              <a:rect l="l" t="t" r="r" b="b"/>
              <a:pathLst>
                <a:path w="5413375" h="1773936">
                  <a:moveTo>
                    <a:pt x="0" y="0"/>
                  </a:moveTo>
                  <a:lnTo>
                    <a:pt x="5413375" y="0"/>
                  </a:lnTo>
                  <a:lnTo>
                    <a:pt x="5413375" y="1773936"/>
                  </a:lnTo>
                  <a:lnTo>
                    <a:pt x="0" y="177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574" r="-4634" b="-73548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63262" y="598422"/>
            <a:ext cx="3165006" cy="1095080"/>
            <a:chOff x="0" y="0"/>
            <a:chExt cx="4220008" cy="1460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19956" cy="1460119"/>
            </a:xfrm>
            <a:custGeom>
              <a:avLst/>
              <a:gdLst/>
              <a:ahLst/>
              <a:cxnLst/>
              <a:rect l="l" t="t" r="r" b="b"/>
              <a:pathLst>
                <a:path w="4219956" h="1460119">
                  <a:moveTo>
                    <a:pt x="0" y="0"/>
                  </a:moveTo>
                  <a:lnTo>
                    <a:pt x="4219956" y="0"/>
                  </a:lnTo>
                  <a:lnTo>
                    <a:pt x="4219956" y="1460119"/>
                  </a:lnTo>
                  <a:lnTo>
                    <a:pt x="0" y="1460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764217" y="2016996"/>
            <a:ext cx="4759567" cy="100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2"/>
              </a:lnSpc>
            </a:pPr>
            <a:r>
              <a:rPr lang="en-US" sz="5251" b="1">
                <a:solidFill>
                  <a:srgbClr val="01238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5522" y="3369679"/>
            <a:ext cx="9397839" cy="682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1565" lvl="1" indent="-295783" algn="just">
              <a:lnSpc>
                <a:spcPts val="3835"/>
              </a:lnSpc>
              <a:buFont typeface="Arial"/>
              <a:buChar char="•"/>
            </a:pPr>
            <a:r>
              <a:rPr lang="en-US" sz="2800" b="1" dirty="0"/>
              <a:t>Proposed </a:t>
            </a:r>
            <a:r>
              <a:rPr lang="en-US" sz="2800" b="1" dirty="0" err="1"/>
              <a:t>ExplaiLiver</a:t>
            </a:r>
            <a:r>
              <a:rPr lang="en-US" sz="2800" b="1" dirty="0"/>
              <a:t>+, a multi-stage stacking ensemble for liver disease prediction. </a:t>
            </a:r>
            <a:endParaRPr lang="en-US" sz="2800" b="1" dirty="0" smtClean="0"/>
          </a:p>
          <a:p>
            <a:pPr marL="591565" lvl="1" indent="-295783" algn="just">
              <a:lnSpc>
                <a:spcPts val="3835"/>
              </a:lnSpc>
              <a:buFont typeface="Arial"/>
              <a:buChar char="•"/>
            </a:pPr>
            <a:r>
              <a:rPr lang="en-US" sz="2800" b="1" dirty="0"/>
              <a:t>Combined </a:t>
            </a:r>
            <a:r>
              <a:rPr lang="en-US" sz="2800" b="1" dirty="0" err="1"/>
              <a:t>XGBoost</a:t>
            </a:r>
            <a:r>
              <a:rPr lang="en-US" sz="2800" b="1" dirty="0"/>
              <a:t>, </a:t>
            </a:r>
            <a:r>
              <a:rPr lang="en-US" sz="2800" b="1" dirty="0" err="1"/>
              <a:t>LightGBM</a:t>
            </a:r>
            <a:r>
              <a:rPr lang="en-US" sz="2800" b="1" dirty="0"/>
              <a:t>, </a:t>
            </a:r>
            <a:r>
              <a:rPr lang="en-US" sz="2800" b="1" dirty="0" err="1"/>
              <a:t>ExtraTrees</a:t>
            </a:r>
            <a:r>
              <a:rPr lang="en-US" sz="2800" b="1" dirty="0"/>
              <a:t>, and </a:t>
            </a:r>
            <a:r>
              <a:rPr lang="en-US" sz="2800" b="1" dirty="0" err="1"/>
              <a:t>CatBoost</a:t>
            </a:r>
            <a:r>
              <a:rPr lang="en-US" sz="2800" b="1" dirty="0"/>
              <a:t> for robust and accurate classification. </a:t>
            </a:r>
            <a:endParaRPr lang="en-US" sz="2800" b="1" dirty="0" smtClean="0"/>
          </a:p>
          <a:p>
            <a:pPr marL="591565" lvl="1" indent="-295783" algn="just">
              <a:lnSpc>
                <a:spcPts val="3835"/>
              </a:lnSpc>
              <a:buFont typeface="Arial"/>
              <a:buChar char="•"/>
            </a:pPr>
            <a:r>
              <a:rPr lang="en-US" sz="2800" b="1" dirty="0"/>
              <a:t>Achieved 94% accuracy and AUC of 0.98, showing strong generalization. </a:t>
            </a:r>
            <a:endParaRPr lang="en-US" sz="2800" b="1" dirty="0" smtClean="0"/>
          </a:p>
          <a:p>
            <a:pPr marL="591565" lvl="1" indent="-295783" algn="just">
              <a:lnSpc>
                <a:spcPts val="3835"/>
              </a:lnSpc>
              <a:buFont typeface="Arial"/>
              <a:buChar char="•"/>
            </a:pPr>
            <a:r>
              <a:rPr lang="en-US" sz="2800" b="1" dirty="0"/>
              <a:t>Effective preprocessing, feature selection, and class balancing improved reliability. </a:t>
            </a:r>
            <a:endParaRPr lang="en-US" sz="2800" b="1" dirty="0" smtClean="0"/>
          </a:p>
          <a:p>
            <a:pPr marL="591565" lvl="1" indent="-295783" algn="just">
              <a:lnSpc>
                <a:spcPts val="3835"/>
              </a:lnSpc>
              <a:buFont typeface="Arial"/>
              <a:buChar char="•"/>
            </a:pPr>
            <a:r>
              <a:rPr lang="en-US" sz="2800" b="1" dirty="0"/>
              <a:t>SHAP </a:t>
            </a:r>
            <a:r>
              <a:rPr lang="en-US" sz="2800" b="1" dirty="0" err="1"/>
              <a:t>explainability</a:t>
            </a:r>
            <a:r>
              <a:rPr lang="en-US" sz="2800" b="1" dirty="0"/>
              <a:t> enhanced clinical interpretability and trust</a:t>
            </a:r>
            <a:r>
              <a:rPr lang="en-US" sz="2800" b="1" dirty="0" smtClean="0"/>
              <a:t>.</a:t>
            </a:r>
          </a:p>
          <a:p>
            <a:pPr marL="591565" lvl="1" indent="-295783" algn="just">
              <a:lnSpc>
                <a:spcPts val="3835"/>
              </a:lnSpc>
              <a:buFont typeface="Arial"/>
              <a:buChar char="•"/>
            </a:pPr>
            <a:r>
              <a:rPr lang="en-US" sz="2800" b="1" dirty="0"/>
              <a:t>Future scope: Integration with </a:t>
            </a:r>
            <a:r>
              <a:rPr lang="en-US" sz="2800" b="1" dirty="0" err="1"/>
              <a:t>IoT</a:t>
            </a:r>
            <a:r>
              <a:rPr lang="en-US" sz="2800" b="1" dirty="0"/>
              <a:t>-based clinical systems and expansion to multi-class liver disease diagnosis using larger datasets.</a:t>
            </a:r>
            <a:endParaRPr lang="en-US" sz="2800" b="1" dirty="0" smtClean="0"/>
          </a:p>
          <a:p>
            <a:pPr algn="just">
              <a:lnSpc>
                <a:spcPts val="3835"/>
              </a:lnSpc>
            </a:pPr>
            <a:endParaRPr lang="en-US" sz="2739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742</Words>
  <Application>Microsoft Office PowerPoint</Application>
  <PresentationFormat>Custom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Arimo</vt:lpstr>
      <vt:lpstr>Arial</vt:lpstr>
      <vt:lpstr>Calibri (MS) Bold</vt:lpstr>
      <vt:lpstr>Aptos</vt:lpstr>
      <vt:lpstr>Arimo Italics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WIECON presentation template.pptx</dc:title>
  <cp:lastModifiedBy>HP</cp:lastModifiedBy>
  <cp:revision>12</cp:revision>
  <dcterms:created xsi:type="dcterms:W3CDTF">2006-08-16T00:00:00Z</dcterms:created>
  <dcterms:modified xsi:type="dcterms:W3CDTF">2025-10-30T08:50:06Z</dcterms:modified>
  <dc:identifier>DAG2-o77kbc</dc:identifier>
</cp:coreProperties>
</file>