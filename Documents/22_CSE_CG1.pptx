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0" autoAdjust="0"/>
    <p:restoredTop sz="94660"/>
  </p:normalViewPr>
  <p:slideViewPr>
    <p:cSldViewPr snapToGrid="0">
      <p:cViewPr varScale="1">
        <p:scale>
          <a:sx n="83" d="100"/>
          <a:sy n="83" d="100"/>
        </p:scale>
        <p:origin x="7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0D152-5116-4477-B784-4471F9DE72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38B9E-7321-4CBF-88F3-8A86102C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2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38035-145A-4A0C-86F0-D285E37A42D0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0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A768-724D-4A42-AAE7-4DDECD59825D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63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1AB55-1BF4-4334-A3A7-A47004C7131F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1F35-C0CF-48F1-B9A5-08714AA4C03A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2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82CC-33A8-4B44-A52E-AF2F550DAE9D}" type="datetime1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4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4F96C-05F8-425D-AC3C-8860C2E0854B}" type="datetime1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6FE-A55E-4754-BFBC-303C94FAE3B3}" type="datetime1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1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AE8-1ABC-4FB5-B8B6-D8996BE89E2D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2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6C21-BDE5-400C-AFB4-57BF5F709868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1D91-F38A-4012-8553-ABD611013E02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9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18A7-D4A3-4906-8822-4CFF9BBC1522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8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7136F-636C-44FA-88B4-5A5CF3FA0662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C67FC-8107-4C00-9415-4D1567E89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5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6493"/>
            <a:ext cx="10515600" cy="73232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Engineering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254" y="1509102"/>
            <a:ext cx="10515600" cy="47773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Title : </a:t>
            </a:r>
            <a:r>
              <a:rPr lang="en-US" sz="2000" b="1" dirty="0" err="1">
                <a:solidFill>
                  <a:srgbClr val="FF0000"/>
                </a:solidFill>
              </a:rPr>
              <a:t>ExplaiLiver</a:t>
            </a:r>
            <a:r>
              <a:rPr lang="en-US" sz="2000" b="1" dirty="0">
                <a:solidFill>
                  <a:srgbClr val="FF0000"/>
                </a:solidFill>
              </a:rPr>
              <a:t>+: A Multi-Stage Stacking Framework with SHAP-Based Interpretability for Clinical Liver Disease </a:t>
            </a:r>
            <a:r>
              <a:rPr lang="en-US" sz="2000" b="1" dirty="0" smtClean="0">
                <a:solidFill>
                  <a:srgbClr val="FF0000"/>
                </a:solidFill>
              </a:rPr>
              <a:t>Prediction</a:t>
            </a:r>
          </a:p>
          <a:p>
            <a:pPr marL="0" indent="0" algn="ctr">
              <a:buNone/>
            </a:pPr>
            <a:r>
              <a:rPr lang="en-US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PRESENTED BY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Mounica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Pulagorla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                           (22471A05H5)                                     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Ramadevi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Mahamkali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                      (22471A05G9)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Abhinayasri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Valivarthi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(22471A05K4)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Under the Guidance of,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G. </a:t>
            </a:r>
            <a:r>
              <a:rPr lang="en-US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Saranya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en-US" sz="1800" dirty="0"/>
              <a:t> (</a:t>
            </a:r>
            <a:r>
              <a:rPr lang="en-US" sz="1800" dirty="0" err="1"/>
              <a:t>Ph.D</a:t>
            </a:r>
            <a:r>
              <a:rPr lang="en-US" sz="1800" dirty="0"/>
              <a:t>)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pPr marL="0" indent="0">
              <a:buNone/>
            </a:pPr>
            <a:r>
              <a:rPr lang="en-US" sz="1800" dirty="0" smtClean="0"/>
              <a:t>                                           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Narasaraopeta Engineering College (Autonomous),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- 522 601.</a:t>
            </a:r>
          </a:p>
          <a:p>
            <a:pPr marL="0" indent="0">
              <a:buNone/>
            </a:pP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" y="-6922"/>
            <a:ext cx="4677428" cy="671805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0B9D-72BB-424C-95C1-6F4B9261BC8B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Review No. 1     Batch No.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1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6010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and Answers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" y="-14500"/>
            <a:ext cx="4677428" cy="713817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AEFE-C005-46A8-807C-4516D37FF448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3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216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outcomes and facilitating early medical intervention depend on timely and accurate liver disease prediction. In this work, we present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ExplaiLiver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+, a new multi-stage stacking ensemble framework that uses SHAP to combine interpretability of the model with high predictive performance. Robust preprocessing methods such as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correction, class balancing with SMOTEENN, feature selection using an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approach, and missing value imputation are all integrated into the framework. Four heterogeneous base classifiers—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—stacked via a logistic regression meta-learner are used in the core ensemble architecture to improve generalization.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ExplaiLiver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outperforms individual baseline models with an AUC of 98.39% and a test accuracy of 94.05%, This study utilizes the ILPD for analysis. SHAP values are employed to illustrate feature importance and provide an explanation of individual predictions in order to guarantee decision-making transparency. The suggested system shows how clinical decision support systems for liver disease detection can be made much more reliable and trustworthy by fusing feature-level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model-level ensemble learning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" y="-11887"/>
            <a:ext cx="4677428" cy="74305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71FD-1863-42B4-8FB7-C24025B60F93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90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7672"/>
            <a:ext cx="10515600" cy="309473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learning–based stacking ensemble developed for accurate liver disease prediction. Uses clinical parameters from the ILPD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four strong models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Logistic Regression acts as meta-learner to give final prediction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liver disease is essential but conventional screening is slow and sometimes inaccurate. Existing ML models struggle with imbalance and poor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Multi-stage stacking ensemble framework with SHAP-based interpretability. Feature optimization, SMOTE-ENN balancing, and strong cross-validation ensure robustness.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reliable, non-invasive liver disease prediction with 94% accuracy. Supports clinical decision-making and can be extended to real-time healthcare systems.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11053"/>
            <a:ext cx="4677428" cy="74305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8D23-BCBA-4418-9B10-B0B12D9E606A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6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529709"/>
              </p:ext>
            </p:extLst>
          </p:nvPr>
        </p:nvGraphicFramePr>
        <p:xfrm>
          <a:off x="849089" y="1251708"/>
          <a:ext cx="10542034" cy="498143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33384">
                  <a:extLst>
                    <a:ext uri="{9D8B030D-6E8A-4147-A177-3AD203B41FA5}">
                      <a16:colId xmlns="" xmlns:a16="http://schemas.microsoft.com/office/drawing/2014/main" val="2070713702"/>
                    </a:ext>
                  </a:extLst>
                </a:gridCol>
                <a:gridCol w="2278625">
                  <a:extLst>
                    <a:ext uri="{9D8B030D-6E8A-4147-A177-3AD203B41FA5}">
                      <a16:colId xmlns="" xmlns:a16="http://schemas.microsoft.com/office/drawing/2014/main" val="264225470"/>
                    </a:ext>
                  </a:extLst>
                </a:gridCol>
                <a:gridCol w="1506005">
                  <a:extLst>
                    <a:ext uri="{9D8B030D-6E8A-4147-A177-3AD203B41FA5}">
                      <a16:colId xmlns="" xmlns:a16="http://schemas.microsoft.com/office/drawing/2014/main" val="3072976218"/>
                    </a:ext>
                  </a:extLst>
                </a:gridCol>
                <a:gridCol w="1506005">
                  <a:extLst>
                    <a:ext uri="{9D8B030D-6E8A-4147-A177-3AD203B41FA5}">
                      <a16:colId xmlns="" xmlns:a16="http://schemas.microsoft.com/office/drawing/2014/main" val="1539970045"/>
                    </a:ext>
                  </a:extLst>
                </a:gridCol>
                <a:gridCol w="1506005">
                  <a:extLst>
                    <a:ext uri="{9D8B030D-6E8A-4147-A177-3AD203B41FA5}">
                      <a16:colId xmlns="" xmlns:a16="http://schemas.microsoft.com/office/drawing/2014/main" val="2133008543"/>
                    </a:ext>
                  </a:extLst>
                </a:gridCol>
                <a:gridCol w="1506005">
                  <a:extLst>
                    <a:ext uri="{9D8B030D-6E8A-4147-A177-3AD203B41FA5}">
                      <a16:colId xmlns="" xmlns:a16="http://schemas.microsoft.com/office/drawing/2014/main" val="167091109"/>
                    </a:ext>
                  </a:extLst>
                </a:gridCol>
                <a:gridCol w="1506005">
                  <a:extLst>
                    <a:ext uri="{9D8B030D-6E8A-4147-A177-3AD203B41FA5}">
                      <a16:colId xmlns="" xmlns:a16="http://schemas.microsoft.com/office/drawing/2014/main" val="1117400812"/>
                    </a:ext>
                  </a:extLst>
                </a:gridCol>
              </a:tblGrid>
              <a:tr h="575812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 Year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Adopted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94691251"/>
                  </a:ext>
                </a:extLst>
              </a:tr>
              <a:tr h="157590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Liver Disease Using Support Vector Machine and Logistic Regression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Jyoshita et al.,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sciencedirect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 encoding, normalization, cleaning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model; focuses on classical ML; future work mentions Word2Vec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classical ML; no feature selection; no ensemble or DL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27050482"/>
                  </a:ext>
                </a:extLst>
              </a:tr>
              <a:tr h="1454813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-Liver: An Intelligent Integrated Features Approach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Sumaiya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Noor et al.,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techscience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Oversampling, Fisher Score, PCA, LDA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92.07% accuracy; hybrid feature engineering; strong performance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 in preprocessing; needs testing on multi-center datasets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36378429"/>
                  </a:ext>
                </a:extLst>
              </a:tr>
              <a:tr h="113100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Liver Disease Prediction Using Deep Learning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Jyoshita et al.,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IJRASET, 2025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values, label encoding, data shuffling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73.3% accuracy; RBM improved feature extraction; MLP best-performing model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accuracy; no ensemble models; limited features; no imaging data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8667372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AC66-AD3B-4745-9697-C6B196945953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11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25143"/>
              </p:ext>
            </p:extLst>
          </p:nvPr>
        </p:nvGraphicFramePr>
        <p:xfrm>
          <a:off x="951721" y="1414818"/>
          <a:ext cx="10546703" cy="341389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33709">
                  <a:extLst>
                    <a:ext uri="{9D8B030D-6E8A-4147-A177-3AD203B41FA5}">
                      <a16:colId xmlns="" xmlns:a16="http://schemas.microsoft.com/office/drawing/2014/main" val="2070713702"/>
                    </a:ext>
                  </a:extLst>
                </a:gridCol>
                <a:gridCol w="2279634">
                  <a:extLst>
                    <a:ext uri="{9D8B030D-6E8A-4147-A177-3AD203B41FA5}">
                      <a16:colId xmlns="" xmlns:a16="http://schemas.microsoft.com/office/drawing/2014/main" val="264225470"/>
                    </a:ext>
                  </a:extLst>
                </a:gridCol>
                <a:gridCol w="1506672">
                  <a:extLst>
                    <a:ext uri="{9D8B030D-6E8A-4147-A177-3AD203B41FA5}">
                      <a16:colId xmlns="" xmlns:a16="http://schemas.microsoft.com/office/drawing/2014/main" val="3072976218"/>
                    </a:ext>
                  </a:extLst>
                </a:gridCol>
                <a:gridCol w="1506672">
                  <a:extLst>
                    <a:ext uri="{9D8B030D-6E8A-4147-A177-3AD203B41FA5}">
                      <a16:colId xmlns="" xmlns:a16="http://schemas.microsoft.com/office/drawing/2014/main" val="1539970045"/>
                    </a:ext>
                  </a:extLst>
                </a:gridCol>
                <a:gridCol w="1506672">
                  <a:extLst>
                    <a:ext uri="{9D8B030D-6E8A-4147-A177-3AD203B41FA5}">
                      <a16:colId xmlns="" xmlns:a16="http://schemas.microsoft.com/office/drawing/2014/main" val="2133008543"/>
                    </a:ext>
                  </a:extLst>
                </a:gridCol>
                <a:gridCol w="1506672">
                  <a:extLst>
                    <a:ext uri="{9D8B030D-6E8A-4147-A177-3AD203B41FA5}">
                      <a16:colId xmlns="" xmlns:a16="http://schemas.microsoft.com/office/drawing/2014/main" val="167091109"/>
                    </a:ext>
                  </a:extLst>
                </a:gridCol>
                <a:gridCol w="1506672">
                  <a:extLst>
                    <a:ext uri="{9D8B030D-6E8A-4147-A177-3AD203B41FA5}">
                      <a16:colId xmlns="" xmlns:a16="http://schemas.microsoft.com/office/drawing/2014/main" val="1117400812"/>
                    </a:ext>
                  </a:extLst>
                </a:gridCol>
              </a:tblGrid>
              <a:tr h="534621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 Year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Adopted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94691251"/>
                  </a:ext>
                </a:extLst>
              </a:tr>
              <a:tr h="1266207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Diagnosis of Liver Disease using Deep Learning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Nosheen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Jillani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 handling, RFE, feature selection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93% accuracy;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outperformed others; strong feature extraction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pre-trained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embeddings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limited to structured data; needs diverse datasets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66662257"/>
                  </a:ext>
                </a:extLst>
              </a:tr>
              <a:tr h="146317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of Boosting Algorithms for Liver Disease Prediction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Shahid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M.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Ganie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P.K.D.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Sciencedirect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EDA, imputation, SMOTE, scaling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GB achieved 98.29% accuracy; best across 13 metrics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GB is computationally expensive; no deep learning or multimodal data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49392490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31BD-1695-4179-88F1-356A4C7098BA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9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523" y="1414818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Disease Prediction Using Deep Learning (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Jyoshita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2024)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MLP and RBM-based feature learning to improve structured clinical parameter classification for liver disease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Liver Disease Using SVM &amp; Logistic Regression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classical ML methods with normalization and label encoding to predict liver disease using basic statistical models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-Liver: Intelligent Feature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hybrid feature engineering (Fisher Score, PCA, ANOVA) with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classification performance and highlight discriminative attributes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 Algorithms for Chronic Liver Disease Prediction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analysis showing Gradient Boosting,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 other boosting models using extensive preprocessing and SMOTE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Diagnosis Using Deep Learning Technique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provides superior accuracy through sequential pattern learning over traditional ML and DL baselines.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E98F-F823-46F1-A1C8-A9D8373D65D5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11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523" y="1414818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works lack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 SHAP/LIME). Clinicians cannot understand why a prediction is made.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papers use simple oversampling or ignore imbalance . Leads to high false negatives (dangerous in medical prediction).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ML/DL models show accuracy between 70–93%. No stable or robust model across different validation folds.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Papers mostly focus on single models (SVM,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No combined framework to leverage diverse model strengths.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of feature ranking, log transformation, 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correction. Redundant and noisy features reduce performance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60AFA-DC70-42E5-BA7B-E5FE74E4610D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523" y="1414818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data is noisy and imbalanced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causing models to misclassify liver disease cases, especially minority/healthy patients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ML/DL models show moderate or unstable accuracy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failing to generalize across different validation folds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preprocessing and limited feature engineering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 to skewed distributions, redundant attributes, and poor predictive power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Single-model approaches lack robustness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struggling to capture both linear and non-linear patterns in clinical features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interpretability in existing systems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clinicians unable to trust or understand why a prediction is made.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2CE1-20D9-45A9-BD2D-748D520C4C4E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60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523" y="535893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43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675" y="1709915"/>
            <a:ext cx="10515600" cy="4351338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Classification: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reliable liver disease prediction model using a multi-stage stacking ensemble for improved accuracy and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 skewed data, handle missing values, and balance class distribution using SMOTE-ENN for better model performance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Optimization: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the most relevant clinical attributes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ranking and log transformation for improved interpretability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Predictions: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SHAP-based interpretability to provide clear clinical reasoning behind each prediction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Generalizable Results: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the model with cross-validation to ensure consistency, robustness, and reduced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D8F7-04B2-489C-9F66-69101F3283B8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854" y="162668"/>
            <a:ext cx="10515600" cy="87892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494C-08F1-4523-8BA1-AC7282782D17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475" y="884740"/>
            <a:ext cx="4591050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0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94360"/>
            <a:ext cx="10515600" cy="73028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3101"/>
            <a:ext cx="10515600" cy="445479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Dataset: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Liver Patient Dataset-583 samples, 10 features, 2 output classes(Disease / No   Disease)</a:t>
            </a:r>
          </a:p>
          <a:p>
            <a:pPr algn="just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Preprocessing Steps: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imputation using median of A/G ratio.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Label encoding for Gender (Male=1, Female=0).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 to reduce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features like TB, DB, SGOT, SGPT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MinMax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normalization to scale features between [0,1].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SMOTE-ENN applied to handle imbalance and remove noise.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ExtraTreesClassifier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for feature importance-based selection.</a:t>
            </a:r>
          </a:p>
          <a:p>
            <a:pPr algn="just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Model </a:t>
            </a: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Architecture: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 (MS) Bold"/>
              </a:rPr>
              <a:t>      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learners: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 learner: Logistic Regression (for final prediction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Trained using 15-fold stratified cross-validation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Explainability</a:t>
            </a: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: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SHAP values for feature-level interpretation of model predictions.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Calibri (MS) Bold"/>
              <a:cs typeface="Times New Roman" panose="02020603050405020304" pitchFamily="18" charset="0"/>
              <a:sym typeface="Calibri (MS) Bold"/>
            </a:endParaRPr>
          </a:p>
          <a:p>
            <a:pPr marL="0" indent="0" algn="just">
              <a:buNone/>
            </a:pPr>
            <a:endParaRPr lang="en-US" sz="18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Calibri (MS) Bold"/>
              <a:cs typeface="Times New Roman" panose="02020603050405020304" pitchFamily="18" charset="0"/>
              <a:sym typeface="Calibri (MS) Bold"/>
            </a:endParaRP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 (MS) Bold"/>
              </a:rPr>
              <a:t>       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09D1-3C3E-4204-B69D-9F8A315101C2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21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06D7E-4ACB-4B88-BBBB-CA0050D7F2E7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4" name="Content Placeholder 12">
            <a:extLst>
              <a:ext uri="{FF2B5EF4-FFF2-40B4-BE49-F238E27FC236}">
                <a16:creationId xmlns:a16="http://schemas.microsoft.com/office/drawing/2014/main" xmlns="" id="{ADA534F9-E492-C180-E439-4FB8C64EB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1685900"/>
              </p:ext>
            </p:extLst>
          </p:nvPr>
        </p:nvGraphicFramePr>
        <p:xfrm>
          <a:off x="573437" y="1390196"/>
          <a:ext cx="11143282" cy="438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95331">
                  <a:extLst>
                    <a:ext uri="{9D8B030D-6E8A-4147-A177-3AD203B41FA5}">
                      <a16:colId xmlns:a16="http://schemas.microsoft.com/office/drawing/2014/main" xmlns="" val="2751753655"/>
                    </a:ext>
                  </a:extLst>
                </a:gridCol>
                <a:gridCol w="7947951">
                  <a:extLst>
                    <a:ext uri="{9D8B030D-6E8A-4147-A177-3AD203B41FA5}">
                      <a16:colId xmlns:a16="http://schemas.microsoft.com/office/drawing/2014/main" xmlns="" val="1231259633"/>
                    </a:ext>
                  </a:extLst>
                </a:gridCol>
              </a:tblGrid>
              <a:tr h="6333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5504002"/>
                  </a:ext>
                </a:extLst>
              </a:tr>
              <a:tr h="63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ExplaiLiver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multi-stage stacking ensemble combining four base models and a Logistic Regression meta-learner.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13358565"/>
                  </a:ext>
                </a:extLst>
              </a:tr>
              <a:tr h="63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ExtraTrees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base learners; Logistic Regression as meta-learner in stacking.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1854262"/>
                  </a:ext>
                </a:extLst>
              </a:tr>
              <a:tr h="63338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tuned with optimized learning rate, tree depth, estimators, and regularization;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ExtraTrees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configured with auto max-features and high estimators. Logistic Regression used as meta-learner with L2 regularization and 15-fold stratified cross-validation for stable training.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19232265"/>
                  </a:ext>
                </a:extLst>
              </a:tr>
              <a:tr h="63338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Mathematical Equations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(TP + TN) / (TP + TN + FP + FN) </a:t>
                      </a:r>
                      <a:b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F1-Score: </a:t>
                      </a:r>
                      <a:r>
                        <a:rPr lang="en-IN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2PR /(P 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IN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R), Precision: TP/ (TP+FP), Recall: TP/(TP+FN)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​​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96453625"/>
                  </a:ext>
                </a:extLst>
              </a:tr>
              <a:tr h="63338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Google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-Learn,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Library,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Library,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Library, Pandas,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44707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40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5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FC09-A81A-495E-A968-5B5326D311E5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14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758CF15D-23D3-374F-0C16-DC7E15E75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implemented in Python (Google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ILPD dataset was preprocessed with median imputation, label encoding, Min–Max scaling, and balanced using SMOTE-ENN to handle class imbalance and noise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were trained and stacked using Logistic Regression as the meta-learner with Stratified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15-Fold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for robust evaluation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used: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CPU/GPU environment enabling faster training and stable model execution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addressed: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data, imbalance,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variance — solved through feature selection, log transformation, SMOTE-ENN, and ensemble stacking for stable performance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373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7722-5BD1-4C5F-9964-06D78C04A43E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11" name="Content Placeholder 13">
            <a:extLst>
              <a:ext uri="{FF2B5EF4-FFF2-40B4-BE49-F238E27FC236}">
                <a16:creationId xmlns:a16="http://schemas.microsoft.com/office/drawing/2014/main" xmlns="" id="{7725EDE8-9A29-0186-4331-13A5E01505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377423"/>
              </p:ext>
            </p:extLst>
          </p:nvPr>
        </p:nvGraphicFramePr>
        <p:xfrm>
          <a:off x="838200" y="1439866"/>
          <a:ext cx="10677043" cy="400003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67208">
                  <a:extLst>
                    <a:ext uri="{9D8B030D-6E8A-4147-A177-3AD203B41FA5}">
                      <a16:colId xmlns:a16="http://schemas.microsoft.com/office/drawing/2014/main" xmlns="" val="3864585371"/>
                    </a:ext>
                  </a:extLst>
                </a:gridCol>
                <a:gridCol w="1781967">
                  <a:extLst>
                    <a:ext uri="{9D8B030D-6E8A-4147-A177-3AD203B41FA5}">
                      <a16:colId xmlns:a16="http://schemas.microsoft.com/office/drawing/2014/main" xmlns="" val="878903803"/>
                    </a:ext>
                  </a:extLst>
                </a:gridCol>
                <a:gridCol w="1781967">
                  <a:extLst>
                    <a:ext uri="{9D8B030D-6E8A-4147-A177-3AD203B41FA5}">
                      <a16:colId xmlns:a16="http://schemas.microsoft.com/office/drawing/2014/main" xmlns="" val="3009541975"/>
                    </a:ext>
                  </a:extLst>
                </a:gridCol>
                <a:gridCol w="1781967">
                  <a:extLst>
                    <a:ext uri="{9D8B030D-6E8A-4147-A177-3AD203B41FA5}">
                      <a16:colId xmlns:a16="http://schemas.microsoft.com/office/drawing/2014/main" xmlns="" val="3590422475"/>
                    </a:ext>
                  </a:extLst>
                </a:gridCol>
                <a:gridCol w="1781967"/>
                <a:gridCol w="1781967"/>
              </a:tblGrid>
              <a:tr h="666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192023"/>
                  </a:ext>
                </a:extLst>
              </a:tr>
              <a:tr h="666673">
                <a:tc>
                  <a:txBody>
                    <a:bodyPr/>
                    <a:lstStyle/>
                    <a:p>
                      <a:r>
                        <a:rPr lang="en-IN" sz="2000" b="0" dirty="0" err="1" smtClean="0"/>
                        <a:t>XGBoost</a:t>
                      </a:r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 smtClean="0"/>
                        <a:t>91.09%</a:t>
                      </a:r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 smtClean="0"/>
                        <a:t>0.8989</a:t>
                      </a:r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 smtClean="0"/>
                        <a:t>0.9302</a:t>
                      </a:r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 smtClean="0"/>
                        <a:t>0.8696</a:t>
                      </a:r>
                      <a:endParaRPr lang="en-IN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 smtClean="0"/>
                        <a:t>0.9759</a:t>
                      </a:r>
                      <a:endParaRPr lang="en-IN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13074727"/>
                  </a:ext>
                </a:extLst>
              </a:tr>
              <a:tr h="666673">
                <a:tc>
                  <a:txBody>
                    <a:bodyPr/>
                    <a:lstStyle/>
                    <a:p>
                      <a:r>
                        <a:rPr lang="en-IN" sz="2000" dirty="0" err="1" smtClean="0"/>
                        <a:t>ExtraTrees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91.09%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0.8916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0.8605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0.9250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0.9824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2951795"/>
                  </a:ext>
                </a:extLst>
              </a:tr>
              <a:tr h="666673">
                <a:tc>
                  <a:txBody>
                    <a:bodyPr/>
                    <a:lstStyle/>
                    <a:p>
                      <a:r>
                        <a:rPr lang="en-IN" sz="2000" dirty="0" err="1" smtClean="0"/>
                        <a:t>LightGBM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93.07%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0.9195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0.9302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0.9091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0.9840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55964354"/>
                  </a:ext>
                </a:extLst>
              </a:tr>
              <a:tr h="666673">
                <a:tc>
                  <a:txBody>
                    <a:bodyPr/>
                    <a:lstStyle/>
                    <a:p>
                      <a:r>
                        <a:rPr lang="en-IN" sz="2000" dirty="0" err="1" smtClean="0"/>
                        <a:t>CatBoost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93.07%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0.9195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0.9302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0.9091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0.9840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571892"/>
                  </a:ext>
                </a:extLst>
              </a:tr>
              <a:tr h="666673">
                <a:tc>
                  <a:txBody>
                    <a:bodyPr/>
                    <a:lstStyle/>
                    <a:p>
                      <a:r>
                        <a:rPr lang="en-US" b="1" dirty="0" err="1" smtClean="0"/>
                        <a:t>ExplaiLiver</a:t>
                      </a:r>
                      <a:r>
                        <a:rPr lang="en-US" b="1" dirty="0" smtClean="0"/>
                        <a:t>+ (Stacked)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94.05%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0.9402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0.9384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0.9433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 smtClean="0"/>
                        <a:t>0.9839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62416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346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DE6A-0F71-430D-8AEE-AC8F44C3362B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82885" y="5550483"/>
            <a:ext cx="1797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Confusion Matrix</a:t>
            </a:r>
            <a:endParaRPr 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21" y="1645874"/>
            <a:ext cx="4700025" cy="3675895"/>
          </a:xfrm>
        </p:spPr>
      </p:pic>
      <p:sp>
        <p:nvSpPr>
          <p:cNvPr id="15" name="TextBox 14"/>
          <p:cNvSpPr txBox="1"/>
          <p:nvPr/>
        </p:nvSpPr>
        <p:spPr>
          <a:xfrm>
            <a:off x="7183120" y="5469728"/>
            <a:ext cx="389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Stacking model.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345" y="1645874"/>
            <a:ext cx="4943455" cy="341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97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7048-AFED-4158-9E13-EE20B52A77EE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20536" y="5603362"/>
            <a:ext cx="51145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Comparison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XGBoost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ExtraTrees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LightGBM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CatBoost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65532" y="5610524"/>
            <a:ext cx="3080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Final Model Evaluation Metrics</a:t>
            </a:r>
            <a:endParaRPr lang="en-US" dirty="0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70" y="1662697"/>
            <a:ext cx="5316007" cy="3926342"/>
          </a:xfr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831" y="1781567"/>
            <a:ext cx="4696969" cy="361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16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ExplaiLiver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achieved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94% accuracy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strong generalization using a multi-stage stacking ensemble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preprocessing (SMOTE-ENN, scaling, feature selection) and SHAP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reliability, transparency, and clinical trust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reduces noise propagation and enhances semantic alignment in multi-view graph learning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clinical systems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health monitoring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multi-center datasets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multi-class liver disease prediction for broader applicability.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F5F6-F5A1-4CB1-9F99-827B212ED64C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20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44144"/>
            <a:ext cx="10433180" cy="4912206"/>
          </a:xfrm>
        </p:spPr>
        <p:txBody>
          <a:bodyPr>
            <a:noAutofit/>
          </a:bodyPr>
          <a:lstStyle/>
          <a:p>
            <a:pPr marL="342900" lvl="0" indent="-342900" fontAlgn="base">
              <a:buFont typeface="+mj-lt"/>
              <a:buAutoNum type="arabicPeriod"/>
            </a:pPr>
            <a:r>
              <a:rPr lang="en-US" sz="1600" dirty="0"/>
              <a:t>Amin, R., Yasmin, R., </a:t>
            </a:r>
            <a:r>
              <a:rPr lang="en-US" sz="1600" dirty="0" err="1"/>
              <a:t>Ruhi</a:t>
            </a:r>
            <a:r>
              <a:rPr lang="en-US" sz="1600" dirty="0"/>
              <a:t>, S., Rahman, M. H., &amp; Reza, M. S. (2023). Prediction of chronic liver disease patients using integrated projection based statistical feature extraction with machine learning algorithms. Informatics in Medicine Unlocked, 36, 101155</a:t>
            </a:r>
            <a:r>
              <a:rPr lang="en-US" sz="1600" dirty="0" smtClean="0"/>
              <a:t>.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en-US" sz="1600" dirty="0"/>
              <a:t>Noor, S., </a:t>
            </a:r>
            <a:r>
              <a:rPr lang="en-US" sz="1600" dirty="0" err="1"/>
              <a:t>AlQahtani</a:t>
            </a:r>
            <a:r>
              <a:rPr lang="en-US" sz="1600" dirty="0"/>
              <a:t>, S. A., &amp; Khan, S. (2025). Chronic liver disease detection using ranking and projection-based feature optimization with deep learning. AIMS Bioengineering, 12(1</a:t>
            </a:r>
            <a:r>
              <a:rPr lang="en-US" sz="1600" dirty="0" smtClean="0"/>
              <a:t>).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en-US" sz="1600" dirty="0" smtClean="0"/>
              <a:t> </a:t>
            </a:r>
            <a:r>
              <a:rPr lang="en-US" sz="1600" dirty="0" err="1"/>
              <a:t>Ganie</a:t>
            </a:r>
            <a:r>
              <a:rPr lang="en-US" sz="1600" dirty="0"/>
              <a:t>, S. M., &amp; </a:t>
            </a:r>
            <a:r>
              <a:rPr lang="en-US" sz="1600" dirty="0" err="1"/>
              <a:t>Pramanik</a:t>
            </a:r>
            <a:r>
              <a:rPr lang="en-US" sz="1600" dirty="0"/>
              <a:t>, P. K. D. (2024). A comparative analysis of boosting algorithms for chronic liver disease prediction. Healthcare Analytics, 5, 100313</a:t>
            </a:r>
            <a:r>
              <a:rPr lang="en-US" sz="1600" dirty="0" smtClean="0"/>
              <a:t>.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en-US" sz="1600" dirty="0"/>
              <a:t>Dritsas, E., &amp; </a:t>
            </a:r>
            <a:r>
              <a:rPr lang="en-US" sz="1600" dirty="0" err="1"/>
              <a:t>Trigka</a:t>
            </a:r>
            <a:r>
              <a:rPr lang="en-US" sz="1600" dirty="0"/>
              <a:t>, M. (2023). Supervised machine learning models for liver disease risk prediction. Computers, 12(1), 19</a:t>
            </a:r>
            <a:r>
              <a:rPr lang="en-US" sz="1600" dirty="0" smtClean="0"/>
              <a:t>.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en-US" sz="1600" dirty="0" err="1"/>
              <a:t>Jillani</a:t>
            </a:r>
            <a:r>
              <a:rPr lang="en-US" sz="1600" dirty="0"/>
              <a:t>, N., </a:t>
            </a:r>
            <a:r>
              <a:rPr lang="en-US" sz="1600" dirty="0" err="1"/>
              <a:t>Khattak</a:t>
            </a:r>
            <a:r>
              <a:rPr lang="en-US" sz="1600" dirty="0"/>
              <a:t>, A. M., </a:t>
            </a:r>
            <a:r>
              <a:rPr lang="en-US" sz="1600" dirty="0" err="1"/>
              <a:t>Asghar</a:t>
            </a:r>
            <a:r>
              <a:rPr lang="en-US" sz="1600" dirty="0"/>
              <a:t>, M. Z., &amp; </a:t>
            </a:r>
            <a:r>
              <a:rPr lang="en-US" sz="1600" dirty="0" err="1"/>
              <a:t>Ullah</a:t>
            </a:r>
            <a:r>
              <a:rPr lang="en-US" sz="1600" dirty="0"/>
              <a:t>, H. (2023, June). Efficient diagnosis of liver disease using deep learning technique. In 2023 IEEE International Symposium on Medical Measurements and Applications (</a:t>
            </a:r>
            <a:r>
              <a:rPr lang="en-US" sz="1600" dirty="0" err="1"/>
              <a:t>MeMeA</a:t>
            </a:r>
            <a:r>
              <a:rPr lang="en-US" sz="1600" dirty="0"/>
              <a:t>) (pp. 1–6). IEEE</a:t>
            </a:r>
            <a:r>
              <a:rPr lang="en-US" sz="1600" dirty="0" smtClean="0"/>
              <a:t>.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en-US" sz="1600" dirty="0"/>
              <a:t>Noor, S., </a:t>
            </a:r>
            <a:r>
              <a:rPr lang="en-US" sz="1600" dirty="0" err="1"/>
              <a:t>AlQahtani</a:t>
            </a:r>
            <a:r>
              <a:rPr lang="en-US" sz="1600" dirty="0"/>
              <a:t>, S. A., &amp; Khan, S. (2025). </a:t>
            </a:r>
            <a:r>
              <a:rPr lang="en-US" sz="1600" dirty="0" err="1"/>
              <a:t>XGBoost</a:t>
            </a:r>
            <a:r>
              <a:rPr lang="en-US" sz="1600" dirty="0"/>
              <a:t>-Liver: An Intelligent Integrated Features Approach for Classifying Liver Diseases Using Ensemble </a:t>
            </a:r>
            <a:r>
              <a:rPr lang="en-US" sz="1600" dirty="0" err="1"/>
              <a:t>XGBoost</a:t>
            </a:r>
            <a:r>
              <a:rPr lang="en-US" sz="1600" dirty="0"/>
              <a:t> Training Model. Computers, Materials &amp; Continua, 83(1</a:t>
            </a:r>
            <a:r>
              <a:rPr lang="en-US" sz="1600" dirty="0" smtClean="0"/>
              <a:t>).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en-US" sz="1600" dirty="0" err="1"/>
              <a:t>Osaseri</a:t>
            </a:r>
            <a:r>
              <a:rPr lang="en-US" sz="1600" dirty="0"/>
              <a:t>, R. O., &amp; </a:t>
            </a:r>
            <a:r>
              <a:rPr lang="en-US" sz="1600" dirty="0" err="1"/>
              <a:t>Usiobaifo</a:t>
            </a:r>
            <a:r>
              <a:rPr lang="en-US" sz="1600" dirty="0"/>
              <a:t>, A. R. (2024). Predicting liver Disease Using Support Vector Machine and Logistic Regression classification Algorithm. NIPES-Journal of Science and Technology Research, 6(4</a:t>
            </a:r>
            <a:r>
              <a:rPr lang="en-US" sz="1600" dirty="0" smtClean="0"/>
              <a:t>).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en-US" sz="1600" dirty="0"/>
              <a:t>Rani, R., </a:t>
            </a:r>
            <a:r>
              <a:rPr lang="en-US" sz="1600" dirty="0" err="1"/>
              <a:t>Jaiswal</a:t>
            </a:r>
            <a:r>
              <a:rPr lang="en-US" sz="1600" dirty="0"/>
              <a:t>, G., Nancy, </a:t>
            </a:r>
            <a:r>
              <a:rPr lang="en-US" sz="1600" dirty="0" err="1"/>
              <a:t>Lipika</a:t>
            </a:r>
            <a:r>
              <a:rPr lang="en-US" sz="1600" dirty="0"/>
              <a:t>, </a:t>
            </a:r>
            <a:r>
              <a:rPr lang="en-US" sz="1600" dirty="0" err="1"/>
              <a:t>Bhushan</a:t>
            </a:r>
            <a:r>
              <a:rPr lang="en-US" sz="1600" dirty="0"/>
              <a:t>, S., </a:t>
            </a:r>
            <a:r>
              <a:rPr lang="en-US" sz="1600" dirty="0" err="1"/>
              <a:t>Ullah</a:t>
            </a:r>
            <a:r>
              <a:rPr lang="en-US" sz="1600" dirty="0"/>
              <a:t>, F., ... &amp; </a:t>
            </a:r>
            <a:r>
              <a:rPr lang="en-US" sz="1600" dirty="0" err="1"/>
              <a:t>Diwakar</a:t>
            </a:r>
            <a:r>
              <a:rPr lang="en-US" sz="1600" dirty="0"/>
              <a:t>, M. (2025). Enhancing liver disease diagnosis with hybrid SMOTE-</a:t>
            </a:r>
            <a:r>
              <a:rPr lang="en-US" sz="1600" dirty="0" err="1"/>
              <a:t>ENNbalanced</a:t>
            </a:r>
            <a:r>
              <a:rPr lang="en-US" sz="1600" dirty="0"/>
              <a:t> machine learning models—an empirical analysis of Indian patient liver disease datasets. Frontiers in Medicine, 12, 1502749.</a:t>
            </a:r>
          </a:p>
          <a:p>
            <a:pPr marL="342900" lvl="0" indent="-342900" fontAlgn="base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AC236-51CA-4BBC-9201-3EFDF45B85E0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26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44143"/>
            <a:ext cx="10515600" cy="4801673"/>
          </a:xfrm>
        </p:spPr>
        <p:txBody>
          <a:bodyPr>
            <a:noAutofit/>
          </a:bodyPr>
          <a:lstStyle/>
          <a:p>
            <a:pPr marL="342900" lvl="0" indent="-342900" fontAlgn="base">
              <a:buFont typeface="+mj-lt"/>
              <a:buAutoNum type="arabicPeriod" startAt="9"/>
            </a:pPr>
            <a:r>
              <a:rPr lang="en-US" sz="1600" dirty="0" err="1"/>
              <a:t>Tokala</a:t>
            </a:r>
            <a:r>
              <a:rPr lang="en-US" sz="1600" dirty="0"/>
              <a:t>, S., </a:t>
            </a:r>
            <a:r>
              <a:rPr lang="en-US" sz="1600" dirty="0" err="1"/>
              <a:t>Hajarathaiah</a:t>
            </a:r>
            <a:r>
              <a:rPr lang="en-US" sz="1600" dirty="0"/>
              <a:t>, K., </a:t>
            </a:r>
            <a:r>
              <a:rPr lang="en-US" sz="1600" dirty="0" err="1"/>
              <a:t>Gunda</a:t>
            </a:r>
            <a:r>
              <a:rPr lang="en-US" sz="1600" dirty="0"/>
              <a:t>, S. R. P., </a:t>
            </a:r>
            <a:r>
              <a:rPr lang="en-US" sz="1600" dirty="0" err="1"/>
              <a:t>Botla</a:t>
            </a:r>
            <a:r>
              <a:rPr lang="en-US" sz="1600" dirty="0"/>
              <a:t>, S., </a:t>
            </a:r>
            <a:r>
              <a:rPr lang="en-US" sz="1600" dirty="0" err="1"/>
              <a:t>Nalluri</a:t>
            </a:r>
            <a:r>
              <a:rPr lang="en-US" sz="1600" dirty="0"/>
              <a:t>, L., Naga </a:t>
            </a:r>
            <a:r>
              <a:rPr lang="en-US" sz="1600" dirty="0" err="1"/>
              <a:t>manohar</a:t>
            </a:r>
            <a:r>
              <a:rPr lang="en-US" sz="1600" dirty="0"/>
              <a:t>, P., ... &amp; </a:t>
            </a:r>
            <a:r>
              <a:rPr lang="en-US" sz="1600" dirty="0" err="1"/>
              <a:t>Enduri</a:t>
            </a:r>
            <a:r>
              <a:rPr lang="en-US" sz="1600" dirty="0"/>
              <a:t>, M. K. (2023). Liver disease prediction and classification using machine learning techniques. International Journal of Advanced Computer Science and Applications, 14(2</a:t>
            </a:r>
            <a:r>
              <a:rPr lang="en-US" sz="1600" dirty="0" smtClean="0"/>
              <a:t>).</a:t>
            </a:r>
          </a:p>
          <a:p>
            <a:pPr marL="342900" lvl="0" indent="-342900" fontAlgn="base">
              <a:buFont typeface="+mj-lt"/>
              <a:buAutoNum type="arabicPeriod" startAt="9"/>
            </a:pPr>
            <a:r>
              <a:rPr lang="en-US" sz="1600" dirty="0"/>
              <a:t>Rahman, A. S., </a:t>
            </a:r>
            <a:r>
              <a:rPr lang="en-US" sz="1600" dirty="0" err="1"/>
              <a:t>Shamrat</a:t>
            </a:r>
            <a:r>
              <a:rPr lang="en-US" sz="1600" dirty="0"/>
              <a:t>, F. J. M., </a:t>
            </a:r>
            <a:r>
              <a:rPr lang="en-US" sz="1600" dirty="0" err="1"/>
              <a:t>Tasnim</a:t>
            </a:r>
            <a:r>
              <a:rPr lang="en-US" sz="1600" dirty="0"/>
              <a:t>, Z., Roy, J., &amp; Hossain, S. A. (2019). A comparative study on liver disease prediction using supervised machine learning algorithms. International Journal of Scientific &amp; Technology Research, 8(11), 419–422</a:t>
            </a:r>
            <a:r>
              <a:rPr lang="en-US" sz="1600" dirty="0" smtClean="0"/>
              <a:t>.</a:t>
            </a:r>
          </a:p>
          <a:p>
            <a:pPr marL="342900" lvl="0" indent="-342900" fontAlgn="base">
              <a:buFont typeface="+mj-lt"/>
              <a:buAutoNum type="arabicPeriod" startAt="9"/>
            </a:pPr>
            <a:r>
              <a:rPr lang="en-US" sz="1600" dirty="0" err="1" smtClean="0"/>
              <a:t>Anthonysamy</a:t>
            </a:r>
            <a:r>
              <a:rPr lang="en-US" sz="1600" dirty="0"/>
              <a:t>, V., &amp; </a:t>
            </a:r>
            <a:r>
              <a:rPr lang="en-US" sz="1600" dirty="0" err="1"/>
              <a:t>Babu</a:t>
            </a:r>
            <a:r>
              <a:rPr lang="en-US" sz="1600" dirty="0"/>
              <a:t>, S. K. (2023). Multi Perceptron Neural Network and Voting Classifier for Liver Disease Dataset. IEEE Access, 11, 102149–102156</a:t>
            </a:r>
            <a:r>
              <a:rPr lang="en-US" sz="1600" dirty="0" smtClean="0"/>
              <a:t>.</a:t>
            </a:r>
          </a:p>
          <a:p>
            <a:pPr marL="342900" lvl="0" indent="-342900" fontAlgn="base">
              <a:buFont typeface="+mj-lt"/>
              <a:buAutoNum type="arabicPeriod" startAt="9"/>
            </a:pPr>
            <a:r>
              <a:rPr lang="en-US" sz="1600" dirty="0" err="1"/>
              <a:t>Hallaji</a:t>
            </a:r>
            <a:r>
              <a:rPr lang="en-US" sz="1600" dirty="0"/>
              <a:t>, E., </a:t>
            </a:r>
            <a:r>
              <a:rPr lang="en-US" sz="1600" dirty="0" err="1"/>
              <a:t>Razavi</a:t>
            </a:r>
            <a:r>
              <a:rPr lang="en-US" sz="1600" dirty="0"/>
              <a:t>-Far, R., Palade, V., &amp; </a:t>
            </a:r>
            <a:r>
              <a:rPr lang="en-US" sz="1600" dirty="0" err="1"/>
              <a:t>Saif</a:t>
            </a:r>
            <a:r>
              <a:rPr lang="en-US" sz="1600" dirty="0"/>
              <a:t>, M. (2021). Adversarial learning on incomplete and imbalanced medical data for robust survival prediction of liver transplant patients. IEEE Access, 9, 73641-73650</a:t>
            </a:r>
            <a:r>
              <a:rPr lang="en-US" sz="1600" dirty="0" smtClean="0"/>
              <a:t>.</a:t>
            </a:r>
          </a:p>
          <a:p>
            <a:pPr marL="342900" lvl="0" indent="-342900" fontAlgn="base">
              <a:buFont typeface="+mj-lt"/>
              <a:buAutoNum type="arabicPeriod" startAt="9"/>
            </a:pPr>
            <a:r>
              <a:rPr lang="en-US" sz="1600" dirty="0"/>
              <a:t>Liu, Y., </a:t>
            </a:r>
            <a:r>
              <a:rPr lang="en-US" sz="1600" dirty="0" err="1"/>
              <a:t>Meric</a:t>
            </a:r>
            <a:r>
              <a:rPr lang="en-US" sz="1600" dirty="0"/>
              <a:t>, G., </a:t>
            </a:r>
            <a:r>
              <a:rPr lang="en-US" sz="1600" dirty="0" err="1"/>
              <a:t>Havulinna</a:t>
            </a:r>
            <a:r>
              <a:rPr lang="en-US" sz="1600" dirty="0"/>
              <a:t>, A. S., </a:t>
            </a:r>
            <a:r>
              <a:rPr lang="en-US" sz="1600" dirty="0" err="1"/>
              <a:t>Teo</a:t>
            </a:r>
            <a:r>
              <a:rPr lang="en-US" sz="1600" dirty="0"/>
              <a:t>, S. M., ˚ </a:t>
            </a:r>
            <a:r>
              <a:rPr lang="en-US" sz="1600" dirty="0" err="1"/>
              <a:t>Aberg</a:t>
            </a:r>
            <a:r>
              <a:rPr lang="en-US" sz="1600" dirty="0"/>
              <a:t>, F., </a:t>
            </a:r>
            <a:r>
              <a:rPr lang="en-US" sz="1600" dirty="0" err="1"/>
              <a:t>Ruuskanen</a:t>
            </a:r>
            <a:r>
              <a:rPr lang="en-US" sz="1600" dirty="0"/>
              <a:t>, M., ... &amp; Inouye, M. (2022). Early prediction of incident liver disease using conventional risk factors and gut-</a:t>
            </a:r>
            <a:r>
              <a:rPr lang="en-US" sz="1600" dirty="0" err="1"/>
              <a:t>microbiome</a:t>
            </a:r>
            <a:r>
              <a:rPr lang="en-US" sz="1600" dirty="0"/>
              <a:t>-augmented gradient boosting. Cell Metabolism, 34(5), 719-730</a:t>
            </a:r>
            <a:r>
              <a:rPr lang="en-US" sz="1600" dirty="0" smtClean="0"/>
              <a:t>.</a:t>
            </a:r>
          </a:p>
          <a:p>
            <a:pPr marL="342900" lvl="0" indent="-342900" fontAlgn="base">
              <a:buFont typeface="+mj-lt"/>
              <a:buAutoNum type="arabicPeriod" startAt="9"/>
            </a:pPr>
            <a:r>
              <a:rPr lang="en-US" sz="1600" dirty="0"/>
              <a:t>Kumar, D., </a:t>
            </a:r>
            <a:r>
              <a:rPr lang="en-US" sz="1600" dirty="0" err="1"/>
              <a:t>Bakariya</a:t>
            </a:r>
            <a:r>
              <a:rPr lang="en-US" sz="1600" dirty="0"/>
              <a:t>, B., </a:t>
            </a:r>
            <a:r>
              <a:rPr lang="en-US" sz="1600" dirty="0" err="1"/>
              <a:t>Verma</a:t>
            </a:r>
            <a:r>
              <a:rPr lang="en-US" sz="1600" dirty="0"/>
              <a:t>, C., &amp; </a:t>
            </a:r>
            <a:r>
              <a:rPr lang="en-US" sz="1600" dirty="0" err="1"/>
              <a:t>Illes</a:t>
            </a:r>
            <a:r>
              <a:rPr lang="en-US" sz="1600" dirty="0"/>
              <a:t>, Z. (2025). </a:t>
            </a:r>
            <a:r>
              <a:rPr lang="en-US" sz="1600" dirty="0" err="1"/>
              <a:t>LivXAI</a:t>
            </a:r>
            <a:r>
              <a:rPr lang="en-US" sz="1600" dirty="0"/>
              <a:t>-Net: An explainable AI framework for liver disease diagnosis with </a:t>
            </a:r>
            <a:r>
              <a:rPr lang="en-US" sz="1600" dirty="0" err="1"/>
              <a:t>IoT</a:t>
            </a:r>
            <a:r>
              <a:rPr lang="en-US" sz="1600" dirty="0"/>
              <a:t> based real-time monitoring support. Computer Methods and Programs in Biomedicine, 108950</a:t>
            </a:r>
            <a:r>
              <a:rPr lang="en-US" sz="1600" dirty="0" smtClean="0"/>
              <a:t>.</a:t>
            </a:r>
          </a:p>
          <a:p>
            <a:pPr marL="342900" lvl="0" indent="-342900" fontAlgn="base">
              <a:buFont typeface="+mj-lt"/>
              <a:buAutoNum type="arabicPeriod" startAt="9"/>
            </a:pPr>
            <a:r>
              <a:rPr lang="en-US" sz="1600" dirty="0" err="1"/>
              <a:t>Mamun</a:t>
            </a:r>
            <a:r>
              <a:rPr lang="en-US" sz="1600" dirty="0"/>
              <a:t>, M., Chowdhury, S. H., Hossain, M. M., </a:t>
            </a:r>
            <a:r>
              <a:rPr lang="en-US" sz="1600" dirty="0" err="1"/>
              <a:t>Khatun</a:t>
            </a:r>
            <a:r>
              <a:rPr lang="en-US" sz="1600" dirty="0"/>
              <a:t>, M. R., &amp; Iqbal, S. (2025). </a:t>
            </a:r>
            <a:r>
              <a:rPr lang="en-US" sz="1600" dirty="0" err="1"/>
              <a:t>Explainability</a:t>
            </a:r>
            <a:r>
              <a:rPr lang="en-US" sz="1600" dirty="0"/>
              <a:t> enhanced liver disease diagnosis technique using tree selection and stacking ensemble-based random forest model. Informatics and Health, 2(1), 17-40.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B8862-4073-433A-91F8-85EEA1C404D0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13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Answers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12733" y="2140149"/>
            <a:ext cx="8593267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now open the floor for any questions from the panel and audience.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be glad to clarify or discuss any part of my work in more detail.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valuable feedback and suggestions are always welcome.</a:t>
            </a:r>
          </a:p>
          <a:p>
            <a:endParaRPr lang="en-IN" sz="2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2EDBB-F9BE-4B30-A5FE-95D451FFC354}" type="datetime1">
              <a:rPr lang="en-US" smtClean="0"/>
              <a:t>2/10/2026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43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2072"/>
            <a:ext cx="10515600" cy="9259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7428" cy="722072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74747" y="1741744"/>
            <a:ext cx="987364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sincerely thank my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guide, faculty, and department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continuous support and guidance throughout this project, and I am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thankful for the opportunity to present my work today.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DC7A-BDF3-4D15-A400-ECC26A6DD6E4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Review No. 1     Batch No.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67FC-8107-4C00-9415-4D1567E899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99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2702</Words>
  <Application>Microsoft Office PowerPoint</Application>
  <PresentationFormat>Widescreen</PresentationFormat>
  <Paragraphs>287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(MS) Bold</vt:lpstr>
      <vt:lpstr>Calibri Light</vt:lpstr>
      <vt:lpstr>Times New Roman</vt:lpstr>
      <vt:lpstr>Verdana</vt:lpstr>
      <vt:lpstr>Wingdings</vt:lpstr>
      <vt:lpstr>Office Theme</vt:lpstr>
      <vt:lpstr>Department of Computer Science Engineering</vt:lpstr>
      <vt:lpstr>OUTLINE</vt:lpstr>
      <vt:lpstr>Abstract</vt:lpstr>
      <vt:lpstr>Introduction</vt:lpstr>
      <vt:lpstr>Literature Survey</vt:lpstr>
      <vt:lpstr>Literature Survey</vt:lpstr>
      <vt:lpstr>Literature Survey</vt:lpstr>
      <vt:lpstr>Research Gaps</vt:lpstr>
      <vt:lpstr>Problem Statements</vt:lpstr>
      <vt:lpstr>Objectives</vt:lpstr>
      <vt:lpstr>Flow Chart</vt:lpstr>
      <vt:lpstr>Methodology</vt:lpstr>
      <vt:lpstr>Methodology</vt:lpstr>
      <vt:lpstr>Implementation</vt:lpstr>
      <vt:lpstr>Results &amp; Analysis</vt:lpstr>
      <vt:lpstr>Results &amp; Analysis</vt:lpstr>
      <vt:lpstr>Results &amp; Analysis</vt:lpstr>
      <vt:lpstr>Conclusion &amp; Future Scope</vt:lpstr>
      <vt:lpstr>References</vt:lpstr>
      <vt:lpstr>References</vt:lpstr>
      <vt:lpstr>Questions and Answers</vt:lpstr>
      <vt:lpstr>Acknowledgements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MyLaptop HP</dc:creator>
  <cp:lastModifiedBy>HP</cp:lastModifiedBy>
  <cp:revision>54</cp:revision>
  <dcterms:created xsi:type="dcterms:W3CDTF">2025-11-08T07:07:45Z</dcterms:created>
  <dcterms:modified xsi:type="dcterms:W3CDTF">2026-02-10T06:00:52Z</dcterms:modified>
</cp:coreProperties>
</file>